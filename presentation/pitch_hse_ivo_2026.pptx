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5"/>
  </p:notesMasterIdLst>
  <p:sldIdLst>
    <p:sldId id="286" r:id="rId5"/>
    <p:sldId id="305" r:id="rId6"/>
    <p:sldId id="306" r:id="rId7"/>
    <p:sldId id="307" r:id="rId8"/>
    <p:sldId id="308" r:id="rId9"/>
    <p:sldId id="314" r:id="rId10"/>
    <p:sldId id="309" r:id="rId11"/>
    <p:sldId id="310" r:id="rId12"/>
    <p:sldId id="311" r:id="rId13"/>
    <p:sldId id="312" r:id="rId14"/>
  </p:sldIdLst>
  <p:sldSz cx="12192000" cy="6858000"/>
  <p:notesSz cx="6858000" cy="9144000"/>
  <p:embeddedFontLst>
    <p:embeddedFont>
      <p:font typeface="HSE Sans" panose="02000000000000000000" pitchFamily="50" charset="0"/>
      <p:regular r:id="rId16"/>
      <p:bold r:id="rId17"/>
      <p:italic r:id="rId18"/>
    </p:embeddedFont>
  </p:embeddedFontLst>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E2D69"/>
    <a:srgbClr val="EB681F"/>
    <a:srgbClr val="029C63"/>
    <a:srgbClr val="96628C"/>
    <a:srgbClr val="11A0D7"/>
    <a:srgbClr val="E61F3D"/>
    <a:srgbClr val="CD5A5A"/>
    <a:srgbClr val="FFD746"/>
    <a:srgbClr val="D9D9D9"/>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21501-8AC7-D24B-9BD4-4AB280FA19DE}" v="6" dt="2021-11-26T18:08:21.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30" autoAdjust="0"/>
    <p:restoredTop sz="94713" autoAdjust="0"/>
  </p:normalViewPr>
  <p:slideViewPr>
    <p:cSldViewPr snapToGrid="0" snapToObjects="1">
      <p:cViewPr varScale="1">
        <p:scale>
          <a:sx n="79" d="100"/>
          <a:sy n="79" d="100"/>
        </p:scale>
        <p:origin x="898" y="72"/>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10/19/2026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60" y="962174"/>
            <a:ext cx="500616" cy="500616"/>
          </a:xfrm>
          <a:prstGeom prst="rect">
            <a:avLst/>
          </a:prstGeom>
        </p:spPr>
      </p:pic>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1616244" y="1024843"/>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26509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90" y="540904"/>
            <a:ext cx="138043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a:prstGeom prst="rect">
            <a:avLst/>
          </a:prstGeo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a:t>
            </a:r>
          </a:p>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a:t>
            </a:r>
            <a:endParaRPr lang="ru-RU" sz="1300" dirty="0">
              <a:latin typeface="HSE Sans" panose="02000000000000000000" pitchFamily="2" charset="0"/>
            </a:endParaRPr>
          </a:p>
        </p:txBody>
      </p:sp>
      <p:sp>
        <p:nvSpPr>
          <p:cNvPr id="21" name="Текст 37">
            <a:extLst>
              <a:ext uri="{FF2B5EF4-FFF2-40B4-BE49-F238E27FC236}">
                <a16:creationId xmlns:a16="http://schemas.microsoft.com/office/drawing/2014/main" id="{45421580-30B9-AE44-9576-3890C98F5E85}"/>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778A6943-08BD-8C4D-A524-728A4340014C}"/>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3" name="Текст 39">
            <a:extLst>
              <a:ext uri="{FF2B5EF4-FFF2-40B4-BE49-F238E27FC236}">
                <a16:creationId xmlns:a16="http://schemas.microsoft.com/office/drawing/2014/main" id="{EB90A960-EE54-5742-BBB0-8536917AD4C0}"/>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300"/>
              </a:spcBef>
            </a:pPr>
            <a:r>
              <a:rPr lang="en-US" sz="1300" dirty="0">
                <a:latin typeface="HSE Sans" panose="02000000000000000000" pitchFamily="2" charset="0"/>
              </a:rPr>
              <a:t>Here I am, a regular text as seen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 Here I am, a regular text as described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a:t>
            </a:r>
            <a:endParaRPr lang="ru-RU" sz="1300" dirty="0">
              <a:latin typeface="HSE Sans" panose="02000000000000000000" pitchFamily="2" charset="0"/>
            </a:endParaRP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r>
              <a:rPr lang="en-US" sz="3200" dirty="0">
                <a:solidFill>
                  <a:srgbClr val="102D69"/>
                </a:solidFill>
                <a:latin typeface="HSE Sans" panose="02000000000000000000" pitchFamily="2" charset="0"/>
              </a:rPr>
              <a:t>Short phrase with important information can have a larger font size than normal, but we don’t recommend doing this often.</a:t>
            </a:r>
            <a:endParaRPr lang="ru-RU" sz="3200" dirty="0">
              <a:solidFill>
                <a:srgbClr val="102D69"/>
              </a:solidFill>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5" name="Текст 37">
            <a:extLst>
              <a:ext uri="{FF2B5EF4-FFF2-40B4-BE49-F238E27FC236}">
                <a16:creationId xmlns:a16="http://schemas.microsoft.com/office/drawing/2014/main" id="{87E14987-3496-B241-A4C9-88FACDD837F5}"/>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3DAEB9AB-245D-774E-9656-B80FCC7A20BB}"/>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98145217-7421-9C4F-9483-5AEA3D289575}"/>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15" name="Текст 37">
            <a:extLst>
              <a:ext uri="{FF2B5EF4-FFF2-40B4-BE49-F238E27FC236}">
                <a16:creationId xmlns:a16="http://schemas.microsoft.com/office/drawing/2014/main" id="{F0037DB7-9A83-3348-8DAE-CC70560E4099}"/>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4007716A-CF6E-BC4E-83BE-CC4A3F1F2008}"/>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4921AC85-F824-C54B-91ED-6AB495D80D7A}"/>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a:prstGeom prst="rect">
            <a:avLst/>
          </a:prstGeo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GB" sz="1600" dirty="0">
                <a:solidFill>
                  <a:srgbClr val="102D69"/>
                </a:solidFill>
                <a:latin typeface="HSE Sans" panose="02000000000000000000" pitchFamily="2" charset="0"/>
              </a:rPr>
              <a:t>Name of graph. Please note that table titles should be smaller than headlines (16 </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EB05FE86-9EEC-B64C-A6A4-0EF1E57F548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897B1CBC-D3E1-5F42-9E46-5C5D5982A1A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364269E6-245A-D54E-A8AD-14E29A03FAC1}"/>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
        <p:nvSpPr>
          <p:cNvPr id="18" name="Текст 37">
            <a:extLst>
              <a:ext uri="{FF2B5EF4-FFF2-40B4-BE49-F238E27FC236}">
                <a16:creationId xmlns:a16="http://schemas.microsoft.com/office/drawing/2014/main" id="{37B4962B-A5BA-AB4F-AFB3-5BF3A0AD0352}"/>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78AD85C2-6CFD-A94C-8134-2B3392A33196}"/>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C50CF571-E523-5440-B1C9-D74160206AED}"/>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a:prstGeom prst="rect">
            <a:avLst/>
          </a:prstGeom>
        </p:spPr>
        <p:txBody>
          <a:bodyPr/>
          <a:lstStyle/>
          <a:p>
            <a:endParaRPr lang="ru-RU"/>
          </a:p>
        </p:txBody>
      </p:sp>
      <p:sp>
        <p:nvSpPr>
          <p:cNvPr id="16" name="Текст 37">
            <a:extLst>
              <a:ext uri="{FF2B5EF4-FFF2-40B4-BE49-F238E27FC236}">
                <a16:creationId xmlns:a16="http://schemas.microsoft.com/office/drawing/2014/main" id="{252B365F-6D89-0045-99CC-0F0D3EF2DA0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C9CC4AE0-EDCC-9A4F-97C4-4CAFF1F1EBCF}"/>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185F6674-A1EC-1846-AEB5-DA4959807147}"/>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a:prstGeom prst="rect">
            <a:avLst/>
          </a:prstGeo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6809E15B-CD0E-2F47-B500-B457A9CCBB37}"/>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7E0B9771-35DC-D24C-B598-648DE6F8DE6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3" name="Текст 39">
            <a:extLst>
              <a:ext uri="{FF2B5EF4-FFF2-40B4-BE49-F238E27FC236}">
                <a16:creationId xmlns:a16="http://schemas.microsoft.com/office/drawing/2014/main" id="{5B1ACD18-BD14-2B4B-BA0A-46A5167E2C75}"/>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More </a:t>
            </a:r>
            <a:r>
              <a:rPr lang="en-US" sz="2400" dirty="0" err="1">
                <a:solidFill>
                  <a:srgbClr val="102D69"/>
                </a:solidFill>
                <a:latin typeface="HSE Sans" panose="02000000000000000000" pitchFamily="2" charset="0"/>
              </a:rPr>
              <a:t>colours</a:t>
            </a:r>
            <a:r>
              <a:rPr lang="en-US" sz="2400" dirty="0">
                <a:solidFill>
                  <a:srgbClr val="102D69"/>
                </a:solidFill>
                <a:latin typeface="HSE Sans" panose="02000000000000000000" pitchFamily="2" charset="0"/>
              </a:rPr>
              <a:t>: palette</a:t>
            </a:r>
            <a:endParaRPr lang="ru-RU" sz="2400" dirty="0">
              <a:solidFill>
                <a:srgbClr val="102D69"/>
              </a:solidFill>
              <a:latin typeface="HSE Sans" panose="02000000000000000000" pitchFamily="2" charset="0"/>
            </a:endParaRP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For tables, graphs , charts and diagrams, you may need to use additional </a:t>
            </a:r>
            <a:r>
              <a:rPr lang="en-US" sz="1300" dirty="0" err="1">
                <a:latin typeface="HSE Sans" panose="02000000000000000000" pitchFamily="2" charset="0"/>
              </a:rPr>
              <a:t>colours</a:t>
            </a:r>
            <a:r>
              <a:rPr lang="en-US" sz="1300" dirty="0">
                <a:latin typeface="HSE Sans" panose="02000000000000000000" pitchFamily="2" charset="0"/>
              </a:rPr>
              <a:t>; you may correctly ask what </a:t>
            </a:r>
            <a:r>
              <a:rPr lang="en-US" sz="1300" dirty="0" err="1">
                <a:latin typeface="HSE Sans" panose="02000000000000000000" pitchFamily="2" charset="0"/>
              </a:rPr>
              <a:t>colours</a:t>
            </a:r>
            <a:r>
              <a:rPr lang="en-US" sz="1300" dirty="0">
                <a:latin typeface="HSE Sans" panose="02000000000000000000" pitchFamily="2" charset="0"/>
              </a:rPr>
              <a:t> can be used and where to find them. We advise using HSE University’s official </a:t>
            </a:r>
            <a:r>
              <a:rPr lang="en-US" sz="1300" dirty="0" err="1">
                <a:latin typeface="HSE Sans" panose="02000000000000000000" pitchFamily="2" charset="0"/>
              </a:rPr>
              <a:t>colour</a:t>
            </a:r>
            <a:r>
              <a:rPr lang="en-US" sz="1300" dirty="0">
                <a:latin typeface="HSE Sans" panose="02000000000000000000" pitchFamily="2" charset="0"/>
              </a:rPr>
              <a:t> scheme for such purposes.</a:t>
            </a:r>
            <a:endParaRPr lang="ru-RU" sz="1300" dirty="0">
              <a:latin typeface="HSE Sans" panose="02000000000000000000" pitchFamily="2" charset="0"/>
            </a:endParaRP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1" name="Текст 37">
            <a:extLst>
              <a:ext uri="{FF2B5EF4-FFF2-40B4-BE49-F238E27FC236}">
                <a16:creationId xmlns:a16="http://schemas.microsoft.com/office/drawing/2014/main" id="{800F6957-CEFF-924E-B258-5B51A5196DEB}"/>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2" name="Текст 39">
            <a:extLst>
              <a:ext uri="{FF2B5EF4-FFF2-40B4-BE49-F238E27FC236}">
                <a16:creationId xmlns:a16="http://schemas.microsoft.com/office/drawing/2014/main" id="{8FD4982C-EBD6-6D4D-A16B-212CB048938C}"/>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3" name="Текст 39">
            <a:extLst>
              <a:ext uri="{FF2B5EF4-FFF2-40B4-BE49-F238E27FC236}">
                <a16:creationId xmlns:a16="http://schemas.microsoft.com/office/drawing/2014/main" id="{733D5CDE-163B-C148-A20F-A808E0652336}"/>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7">
            <a:extLst>
              <a:ext uri="{FF2B5EF4-FFF2-40B4-BE49-F238E27FC236}">
                <a16:creationId xmlns:a16="http://schemas.microsoft.com/office/drawing/2014/main" id="{C0A1CB46-D6D6-5E48-B4F7-CCED4525C46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1" name="Текст 39">
            <a:extLst>
              <a:ext uri="{FF2B5EF4-FFF2-40B4-BE49-F238E27FC236}">
                <a16:creationId xmlns:a16="http://schemas.microsoft.com/office/drawing/2014/main" id="{25D35A19-1AA8-204A-BFCA-83B65D59CFF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3557077C-F503-0B4A-82A2-54D21547E589}"/>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9D694F-3582-1641-94D9-87F2A3453FC3}"/>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4" name="Picture 3" descr="A blue circle with white text&#10;&#10;Description automatically generated with low confidence">
            <a:extLst>
              <a:ext uri="{FF2B5EF4-FFF2-40B4-BE49-F238E27FC236}">
                <a16:creationId xmlns:a16="http://schemas.microsoft.com/office/drawing/2014/main" id="{CFAE9005-17A7-5047-B315-642E9FB4F328}"/>
              </a:ext>
            </a:extLst>
          </p:cNvPr>
          <p:cNvPicPr>
            <a:picLocks noChangeAspect="1"/>
          </p:cNvPicPr>
          <p:nvPr userDrawn="1"/>
        </p:nvPicPr>
        <p:blipFill>
          <a:blip r:embed="rId3"/>
          <a:stretch>
            <a:fillRect/>
          </a:stretch>
        </p:blipFill>
        <p:spPr>
          <a:xfrm>
            <a:off x="5310809" y="2643809"/>
            <a:ext cx="1570383" cy="1570383"/>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757A51-BBC2-9047-B199-AE90EB17B4D4}"/>
              </a:ext>
            </a:extLst>
          </p:cNvPr>
          <p:cNvSpPr>
            <a:spLocks noGrp="1"/>
          </p:cNvSpPr>
          <p:nvPr>
            <p:ph type="title"/>
          </p:nvPr>
        </p:nvSpPr>
        <p:spPr>
          <a:xfrm>
            <a:off x="1027967" y="1949103"/>
            <a:ext cx="9570565" cy="1134565"/>
          </a:xfrm>
        </p:spPr>
        <p:txBody>
          <a:bodyPr>
            <a:normAutofit fontScale="90000"/>
          </a:bodyPr>
          <a:lstStyle/>
          <a:p>
            <a:r>
              <a:rPr lang="ru-RU" sz="3300" dirty="0"/>
              <a:t>Что приводит аспиранта к мысли об отчислении – </a:t>
            </a:r>
            <a:r>
              <a:rPr lang="ru-RU" sz="3300" b="1" dirty="0"/>
              <a:t>среда</a:t>
            </a:r>
            <a:r>
              <a:rPr lang="ru-RU" sz="3300" dirty="0"/>
              <a:t> или обстоятельства?</a:t>
            </a:r>
            <a:br>
              <a:rPr lang="ru-RU" dirty="0"/>
            </a:br>
            <a:br>
              <a:rPr lang="en-US" dirty="0"/>
            </a:br>
            <a:endParaRPr lang="ru-RU" sz="2400" dirty="0"/>
          </a:p>
        </p:txBody>
      </p:sp>
      <p:sp>
        <p:nvSpPr>
          <p:cNvPr id="3" name="Текст 2">
            <a:extLst>
              <a:ext uri="{FF2B5EF4-FFF2-40B4-BE49-F238E27FC236}">
                <a16:creationId xmlns:a16="http://schemas.microsoft.com/office/drawing/2014/main" id="{268EB560-A246-394A-858C-3B1CFBF03B46}"/>
              </a:ext>
            </a:extLst>
          </p:cNvPr>
          <p:cNvSpPr>
            <a:spLocks noGrp="1"/>
          </p:cNvSpPr>
          <p:nvPr>
            <p:ph type="body" sz="quarter" idx="10"/>
          </p:nvPr>
        </p:nvSpPr>
        <p:spPr>
          <a:xfrm>
            <a:off x="1616244" y="1131848"/>
            <a:ext cx="9570565" cy="307847"/>
          </a:xfrm>
        </p:spPr>
        <p:txBody>
          <a:bodyPr/>
          <a:lstStyle/>
          <a:p>
            <a:r>
              <a:rPr lang="ru-RU" sz="1100" dirty="0">
                <a:latin typeface="HSE Sans" panose="02000000000000000000" pitchFamily="50" charset="0"/>
              </a:rPr>
              <a:t>ХАКАТОН ИССЛЕДОВАТЕЛЕЙ ВЫСШЕГО ОБРАЗОВАНИЯ · 2026</a:t>
            </a:r>
            <a:r>
              <a:rPr lang="en-US" sz="1100" dirty="0">
                <a:latin typeface="HSE Sans" panose="02000000000000000000" pitchFamily="50" charset="0"/>
              </a:rPr>
              <a:t> </a:t>
            </a:r>
            <a:r>
              <a:rPr lang="ru-RU" sz="1100" dirty="0">
                <a:latin typeface="HSE Sans" panose="02000000000000000000" pitchFamily="50" charset="0"/>
              </a:rPr>
              <a:t>		Номинация «Анализ данных»</a:t>
            </a:r>
            <a:r>
              <a:rPr lang="en-US" sz="1100" noProof="1">
                <a:solidFill>
                  <a:srgbClr val="86868B"/>
                </a:solidFill>
                <a:latin typeface="HSE Sans" panose="02000000000000000000" pitchFamily="50" charset="0"/>
                <a:ea typeface="MiSans"/>
              </a:rPr>
              <a:t> </a:t>
            </a:r>
            <a:r>
              <a:rPr lang="en-US" sz="1100" noProof="1">
                <a:latin typeface="HSE Sans" panose="02000000000000000000" pitchFamily="50" charset="0"/>
                <a:ea typeface="MiSans"/>
              </a:rPr>
              <a:t>·</a:t>
            </a:r>
            <a:r>
              <a:rPr lang="ru-RU" sz="1100" noProof="1">
                <a:latin typeface="HSE Sans" panose="02000000000000000000" pitchFamily="50" charset="0"/>
                <a:ea typeface="MiSans"/>
              </a:rPr>
              <a:t> Задача 1 </a:t>
            </a:r>
            <a:r>
              <a:rPr lang="en-US" sz="1100" noProof="1">
                <a:latin typeface="HSE Sans" panose="02000000000000000000" pitchFamily="50" charset="0"/>
                <a:ea typeface="MiSans"/>
              </a:rPr>
              <a:t>·</a:t>
            </a:r>
            <a:r>
              <a:rPr lang="ru-RU" sz="1100" noProof="1">
                <a:latin typeface="HSE Sans" panose="02000000000000000000" pitchFamily="50" charset="0"/>
                <a:ea typeface="MiSans"/>
              </a:rPr>
              <a:t> Дорофеев Арсений</a:t>
            </a:r>
            <a:endParaRPr lang="ru-RU" sz="1100" dirty="0">
              <a:latin typeface="HSE Sans" panose="02000000000000000000" pitchFamily="50" charset="0"/>
            </a:endParaRPr>
          </a:p>
        </p:txBody>
      </p:sp>
      <p:sp>
        <p:nvSpPr>
          <p:cNvPr id="12" name="subtitle">
            <a:extLst>
              <a:ext uri="{FF2B5EF4-FFF2-40B4-BE49-F238E27FC236}">
                <a16:creationId xmlns:a16="http://schemas.microsoft.com/office/drawing/2014/main" id="{A1A98129-5B9A-52D9-28E2-A137ED3DA1EF}"/>
              </a:ext>
            </a:extLst>
          </p:cNvPr>
          <p:cNvSpPr txBox="1"/>
          <p:nvPr/>
        </p:nvSpPr>
        <p:spPr>
          <a:xfrm>
            <a:off x="1027967" y="3110476"/>
            <a:ext cx="7240544" cy="965200"/>
          </a:xfrm>
          <a:prstGeom prst="rect">
            <a:avLst/>
          </a:prstGeom>
          <a:noFill/>
          <a:ln>
            <a:noFill/>
          </a:ln>
        </p:spPr>
        <p:txBody>
          <a:bodyPr wrap="square" lIns="0" tIns="0" rIns="0" bIns="0" rtlCol="0"/>
          <a:lstStyle/>
          <a:p>
            <a:pPr>
              <a:lnSpc>
                <a:spcPct val="130000"/>
              </a:lnSpc>
            </a:pPr>
            <a:r>
              <a:rPr lang="en-US" sz="1400" noProof="1">
                <a:latin typeface="HSE Sans" panose="02000000000000000000" pitchFamily="50" charset="0"/>
                <a:ea typeface="MiSans"/>
              </a:rPr>
              <a:t>Что сильнее связано с намерением уйти из аспирантуры — образовательная среда и научное руководство или жизненные обстоятельства. Декомпозиция факторов по данным Всероссийского опроса аспирантов Института образования НИУ ВШЭ, 2021</a:t>
            </a:r>
            <a:endParaRPr lang="en-US" sz="1400" noProof="1">
              <a:latin typeface="HSE Sans" panose="02000000000000000000" pitchFamily="50" charset="0"/>
            </a:endParaRPr>
          </a:p>
        </p:txBody>
      </p:sp>
      <p:sp>
        <p:nvSpPr>
          <p:cNvPr id="13" name="fact1-num">
            <a:extLst>
              <a:ext uri="{FF2B5EF4-FFF2-40B4-BE49-F238E27FC236}">
                <a16:creationId xmlns:a16="http://schemas.microsoft.com/office/drawing/2014/main" id="{0212381B-47C3-7267-5944-C1D55FB4CFE3}"/>
              </a:ext>
            </a:extLst>
          </p:cNvPr>
          <p:cNvSpPr txBox="1"/>
          <p:nvPr/>
        </p:nvSpPr>
        <p:spPr>
          <a:xfrm>
            <a:off x="1027967" y="4722778"/>
            <a:ext cx="1151029" cy="406400"/>
          </a:xfrm>
          <a:prstGeom prst="rect">
            <a:avLst/>
          </a:prstGeom>
          <a:noFill/>
          <a:ln>
            <a:noFill/>
          </a:ln>
        </p:spPr>
        <p:txBody>
          <a:bodyPr wrap="none" lIns="0" tIns="0" rIns="0" bIns="0" rtlCol="0"/>
          <a:lstStyle/>
          <a:p>
            <a:pPr>
              <a:lnSpc>
                <a:spcPct val="120000"/>
              </a:lnSpc>
            </a:pPr>
            <a:r>
              <a:rPr lang="en-US" sz="2300" b="1" noProof="1">
                <a:latin typeface="HSE Sans" panose="02000000000000000000" pitchFamily="50" charset="0"/>
                <a:ea typeface="MiSans"/>
              </a:rPr>
              <a:t>10,4%</a:t>
            </a:r>
            <a:endParaRPr lang="en-US" sz="2300" noProof="1">
              <a:latin typeface="HSE Sans" panose="02000000000000000000" pitchFamily="50" charset="0"/>
            </a:endParaRPr>
          </a:p>
        </p:txBody>
      </p:sp>
      <p:sp>
        <p:nvSpPr>
          <p:cNvPr id="14" name="fact2-num">
            <a:extLst>
              <a:ext uri="{FF2B5EF4-FFF2-40B4-BE49-F238E27FC236}">
                <a16:creationId xmlns:a16="http://schemas.microsoft.com/office/drawing/2014/main" id="{7C15C068-DA4A-A477-207D-AF70CFB674B9}"/>
              </a:ext>
            </a:extLst>
          </p:cNvPr>
          <p:cNvSpPr txBox="1"/>
          <p:nvPr/>
        </p:nvSpPr>
        <p:spPr>
          <a:xfrm>
            <a:off x="4648239" y="4727536"/>
            <a:ext cx="351778" cy="406400"/>
          </a:xfrm>
          <a:prstGeom prst="rect">
            <a:avLst/>
          </a:prstGeom>
          <a:noFill/>
          <a:ln>
            <a:noFill/>
          </a:ln>
        </p:spPr>
        <p:txBody>
          <a:bodyPr wrap="none" lIns="0" tIns="0" rIns="0" bIns="0" rtlCol="0"/>
          <a:lstStyle/>
          <a:p>
            <a:pPr>
              <a:lnSpc>
                <a:spcPct val="120000"/>
              </a:lnSpc>
            </a:pPr>
            <a:r>
              <a:rPr lang="en-US" sz="2300" b="1" noProof="1">
                <a:latin typeface="HSE Sans" panose="02000000000000000000" pitchFamily="50" charset="0"/>
                <a:ea typeface="MiSans"/>
              </a:rPr>
              <a:t>0</a:t>
            </a:r>
            <a:endParaRPr lang="en-US" sz="2300" noProof="1">
              <a:latin typeface="HSE Sans" panose="02000000000000000000" pitchFamily="50" charset="0"/>
            </a:endParaRPr>
          </a:p>
        </p:txBody>
      </p:sp>
      <p:sp>
        <p:nvSpPr>
          <p:cNvPr id="15" name="fact3-num">
            <a:extLst>
              <a:ext uri="{FF2B5EF4-FFF2-40B4-BE49-F238E27FC236}">
                <a16:creationId xmlns:a16="http://schemas.microsoft.com/office/drawing/2014/main" id="{D811313C-12B8-60B9-EB54-2D3460F35C4A}"/>
              </a:ext>
            </a:extLst>
          </p:cNvPr>
          <p:cNvSpPr txBox="1"/>
          <p:nvPr/>
        </p:nvSpPr>
        <p:spPr>
          <a:xfrm>
            <a:off x="8029412" y="4727536"/>
            <a:ext cx="832487" cy="406400"/>
          </a:xfrm>
          <a:prstGeom prst="rect">
            <a:avLst/>
          </a:prstGeom>
          <a:noFill/>
          <a:ln>
            <a:noFill/>
          </a:ln>
        </p:spPr>
        <p:txBody>
          <a:bodyPr wrap="none" lIns="0" tIns="0" rIns="0" bIns="0" rtlCol="0"/>
          <a:lstStyle/>
          <a:p>
            <a:pPr>
              <a:lnSpc>
                <a:spcPct val="120000"/>
              </a:lnSpc>
            </a:pPr>
            <a:r>
              <a:rPr lang="en-US" sz="2300" b="1" noProof="1">
                <a:latin typeface="HSE Sans" panose="02000000000000000000" pitchFamily="50" charset="0"/>
                <a:ea typeface="MiSans"/>
              </a:rPr>
              <a:t>5007</a:t>
            </a:r>
            <a:endParaRPr lang="en-US" sz="2300" noProof="1">
              <a:latin typeface="HSE Sans" panose="02000000000000000000" pitchFamily="50" charset="0"/>
            </a:endParaRPr>
          </a:p>
        </p:txBody>
      </p:sp>
      <p:sp>
        <p:nvSpPr>
          <p:cNvPr id="16" name="fact1-cap">
            <a:extLst>
              <a:ext uri="{FF2B5EF4-FFF2-40B4-BE49-F238E27FC236}">
                <a16:creationId xmlns:a16="http://schemas.microsoft.com/office/drawing/2014/main" id="{7B840F22-7CB4-AC04-891D-5E8D69544426}"/>
              </a:ext>
            </a:extLst>
          </p:cNvPr>
          <p:cNvSpPr txBox="1"/>
          <p:nvPr/>
        </p:nvSpPr>
        <p:spPr>
          <a:xfrm>
            <a:off x="1027967" y="5130800"/>
            <a:ext cx="3390900" cy="660400"/>
          </a:xfrm>
          <a:prstGeom prst="rect">
            <a:avLst/>
          </a:prstGeom>
          <a:noFill/>
          <a:ln>
            <a:noFill/>
          </a:ln>
        </p:spPr>
        <p:txBody>
          <a:bodyPr wrap="square" lIns="0" tIns="0" rIns="0" bIns="0" rtlCol="0"/>
          <a:lstStyle/>
          <a:p>
            <a:pPr>
              <a:lnSpc>
                <a:spcPct val="145000"/>
              </a:lnSpc>
            </a:pPr>
            <a:r>
              <a:rPr lang="en-US" sz="1100" noProof="1">
                <a:latin typeface="HSE Sans" panose="02000000000000000000" pitchFamily="50" charset="0"/>
                <a:ea typeface="MiSans"/>
              </a:rPr>
              <a:t>защит диссертаций в срок в России в 2021 г.; девять лет назад было 26,2%</a:t>
            </a:r>
            <a:endParaRPr lang="en-US" sz="1100" noProof="1">
              <a:latin typeface="HSE Sans" panose="02000000000000000000" pitchFamily="50" charset="0"/>
            </a:endParaRPr>
          </a:p>
        </p:txBody>
      </p:sp>
      <p:sp>
        <p:nvSpPr>
          <p:cNvPr id="17" name="fact2-cap">
            <a:extLst>
              <a:ext uri="{FF2B5EF4-FFF2-40B4-BE49-F238E27FC236}">
                <a16:creationId xmlns:a16="http://schemas.microsoft.com/office/drawing/2014/main" id="{63540A85-64B8-C188-47F5-05C8A1DAAAA0}"/>
              </a:ext>
            </a:extLst>
          </p:cNvPr>
          <p:cNvSpPr txBox="1"/>
          <p:nvPr/>
        </p:nvSpPr>
        <p:spPr>
          <a:xfrm>
            <a:off x="4648239" y="5130800"/>
            <a:ext cx="3390900" cy="660400"/>
          </a:xfrm>
          <a:prstGeom prst="rect">
            <a:avLst/>
          </a:prstGeom>
          <a:noFill/>
          <a:ln>
            <a:noFill/>
          </a:ln>
        </p:spPr>
        <p:txBody>
          <a:bodyPr wrap="square" lIns="0" tIns="0" rIns="0" bIns="0" rtlCol="0"/>
          <a:lstStyle/>
          <a:p>
            <a:pPr>
              <a:lnSpc>
                <a:spcPct val="145000"/>
              </a:lnSpc>
            </a:pPr>
            <a:r>
              <a:rPr lang="en-US" sz="1100" noProof="1">
                <a:latin typeface="HSE Sans" panose="02000000000000000000" pitchFamily="50" charset="0"/>
                <a:ea typeface="MiSans"/>
              </a:rPr>
              <a:t>регрессионных моделей намерения уйти на этом массиве до этой работы</a:t>
            </a:r>
            <a:endParaRPr lang="en-US" sz="1100" noProof="1">
              <a:latin typeface="HSE Sans" panose="02000000000000000000" pitchFamily="50" charset="0"/>
            </a:endParaRPr>
          </a:p>
        </p:txBody>
      </p:sp>
      <p:sp>
        <p:nvSpPr>
          <p:cNvPr id="18" name="fact3-cap">
            <a:extLst>
              <a:ext uri="{FF2B5EF4-FFF2-40B4-BE49-F238E27FC236}">
                <a16:creationId xmlns:a16="http://schemas.microsoft.com/office/drawing/2014/main" id="{2A8BD73A-575D-07DA-58A4-A2CA10AC61AC}"/>
              </a:ext>
            </a:extLst>
          </p:cNvPr>
          <p:cNvSpPr txBox="1"/>
          <p:nvPr/>
        </p:nvSpPr>
        <p:spPr>
          <a:xfrm>
            <a:off x="8039139" y="5125396"/>
            <a:ext cx="3390900" cy="660400"/>
          </a:xfrm>
          <a:prstGeom prst="rect">
            <a:avLst/>
          </a:prstGeom>
          <a:noFill/>
          <a:ln>
            <a:noFill/>
          </a:ln>
        </p:spPr>
        <p:txBody>
          <a:bodyPr wrap="square" lIns="0" tIns="0" rIns="0" bIns="0" rtlCol="0"/>
          <a:lstStyle/>
          <a:p>
            <a:pPr>
              <a:lnSpc>
                <a:spcPct val="145000"/>
              </a:lnSpc>
            </a:pPr>
            <a:r>
              <a:rPr lang="en-US" sz="1100" noProof="1">
                <a:latin typeface="HSE Sans" panose="02000000000000000000" pitchFamily="50" charset="0"/>
                <a:ea typeface="MiSans"/>
              </a:rPr>
              <a:t>аспирантов из 248 вузов ответили на опрос</a:t>
            </a:r>
            <a:endParaRPr lang="en-US" sz="1100" noProof="1">
              <a:latin typeface="HSE Sans" panose="02000000000000000000" pitchFamily="50" charset="0"/>
            </a:endParaRPr>
          </a:p>
        </p:txBody>
      </p:sp>
    </p:spTree>
    <p:extLst>
      <p:ext uri="{BB962C8B-B14F-4D97-AF65-F5344CB8AC3E}">
        <p14:creationId xmlns:p14="http://schemas.microsoft.com/office/powerpoint/2010/main" val="145221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7" y="1369966"/>
            <a:ext cx="11165115" cy="624201"/>
          </a:xfrm>
        </p:spPr>
        <p:txBody>
          <a:bodyPr>
            <a:normAutofit/>
          </a:bodyPr>
          <a:lstStyle/>
          <a:p>
            <a:r>
              <a:rPr lang="ru-RU" sz="2600" dirty="0"/>
              <a:t>Массив: 5007 аспирантов из 248 вузов </a:t>
            </a:r>
            <a:r>
              <a:rPr lang="en-US" sz="2600" dirty="0"/>
              <a:t>&amp;</a:t>
            </a:r>
            <a:r>
              <a:rPr lang="ru-RU" sz="2600" dirty="0"/>
              <a:t> Границы массива </a:t>
            </a:r>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85897" y="2117870"/>
            <a:ext cx="5245561" cy="3913273"/>
          </a:xfrm>
        </p:spPr>
        <p:txBody>
          <a:bodyPr>
            <a:noAutofit/>
          </a:bodyPr>
          <a:lstStyle/>
          <a:p>
            <a:pPr>
              <a:lnSpc>
                <a:spcPct val="110000"/>
              </a:lnSpc>
              <a:spcAft>
                <a:spcPts val="800"/>
              </a:spcAft>
            </a:pPr>
            <a:r>
              <a:rPr lang="ru-RU" b="1" dirty="0"/>
              <a:t>Что в массиве:</a:t>
            </a:r>
          </a:p>
          <a:p>
            <a:pPr>
              <a:lnSpc>
                <a:spcPct val="110000"/>
              </a:lnSpc>
              <a:spcBef>
                <a:spcPts val="0"/>
              </a:spcBef>
              <a:spcAft>
                <a:spcPts val="1200"/>
              </a:spcAft>
            </a:pPr>
            <a:r>
              <a:rPr lang="ru-RU" dirty="0"/>
              <a:t>Всероссийский мониторинг аспирантуры ИО ВШЭ, пандемийная волна 2021 г.; 276 переменных. </a:t>
            </a:r>
          </a:p>
          <a:p>
            <a:pPr>
              <a:lnSpc>
                <a:spcPct val="110000"/>
              </a:lnSpc>
              <a:spcBef>
                <a:spcPts val="0"/>
              </a:spcBef>
              <a:spcAft>
                <a:spcPts val="800"/>
              </a:spcAft>
            </a:pPr>
            <a:r>
              <a:rPr lang="ru-RU" b="1" dirty="0"/>
              <a:t>Блоки анкеты:</a:t>
            </a:r>
          </a:p>
          <a:p>
            <a:pPr>
              <a:lnSpc>
                <a:spcPct val="110000"/>
              </a:lnSpc>
              <a:spcBef>
                <a:spcPts val="0"/>
              </a:spcBef>
              <a:spcAft>
                <a:spcPts val="400"/>
              </a:spcAft>
            </a:pPr>
            <a:r>
              <a:rPr lang="ru-RU" b="1" dirty="0"/>
              <a:t>•</a:t>
            </a:r>
            <a:r>
              <a:rPr lang="ru-RU" dirty="0"/>
              <a:t> </a:t>
            </a:r>
            <a:r>
              <a:rPr lang="ru-RU" b="1" dirty="0"/>
              <a:t>Среда и руководство: </a:t>
            </a:r>
            <a:r>
              <a:rPr lang="ru-RU" dirty="0"/>
              <a:t>— 13 практик руководителя, удовлетворённость, принадлежность программе, качество образования, курсы;</a:t>
            </a:r>
          </a:p>
          <a:p>
            <a:pPr>
              <a:lnSpc>
                <a:spcPct val="110000"/>
              </a:lnSpc>
              <a:spcBef>
                <a:spcPts val="0"/>
              </a:spcBef>
              <a:spcAft>
                <a:spcPts val="400"/>
              </a:spcAft>
            </a:pPr>
            <a:r>
              <a:rPr lang="ru-RU" b="1" dirty="0"/>
              <a:t>• Жизненные обстоятельства: </a:t>
            </a:r>
            <a:r>
              <a:rPr lang="ru-RU" dirty="0"/>
              <a:t>— занятость и её связь с диссертацией, доход, ковидные трудности, семья;</a:t>
            </a:r>
          </a:p>
          <a:p>
            <a:pPr>
              <a:lnSpc>
                <a:spcPct val="110000"/>
              </a:lnSpc>
              <a:spcBef>
                <a:spcPts val="0"/>
              </a:spcBef>
              <a:spcAft>
                <a:spcPts val="400"/>
              </a:spcAft>
            </a:pPr>
            <a:r>
              <a:rPr lang="ru-RU" b="1" dirty="0"/>
              <a:t>• Мотивация и цели + демография;</a:t>
            </a:r>
          </a:p>
          <a:p>
            <a:pPr>
              <a:lnSpc>
                <a:spcPct val="110000"/>
              </a:lnSpc>
              <a:spcBef>
                <a:spcPts val="0"/>
              </a:spcBef>
            </a:pPr>
            <a:r>
              <a:rPr lang="ru-RU" b="1" dirty="0"/>
              <a:t>• Самочувствие: </a:t>
            </a:r>
            <a:r>
              <a:rPr lang="ru-RU" dirty="0"/>
              <a:t>PHQ-8</a:t>
            </a:r>
          </a:p>
          <a:p>
            <a:pPr>
              <a:lnSpc>
                <a:spcPct val="110000"/>
              </a:lnSpc>
              <a:spcBef>
                <a:spcPts val="0"/>
              </a:spcBef>
              <a:spcAft>
                <a:spcPts val="400"/>
              </a:spcAft>
            </a:pPr>
            <a:endParaRPr lang="ru-RU" dirty="0"/>
          </a:p>
          <a:p>
            <a:pPr>
              <a:lnSpc>
                <a:spcPct val="110000"/>
              </a:lnSpc>
              <a:spcBef>
                <a:spcPts val="0"/>
              </a:spcBef>
            </a:pPr>
            <a:r>
              <a:rPr lang="ru-RU" b="1" dirty="0"/>
              <a:t>Рамка</a:t>
            </a:r>
            <a:r>
              <a:rPr lang="ru-RU" dirty="0"/>
              <a:t> — две традиции литературы об отсеве: институциональная интеграция (</a:t>
            </a:r>
            <a:r>
              <a:rPr lang="en-US" i="1" dirty="0"/>
              <a:t>Tinto (1993, 2012)</a:t>
            </a:r>
            <a:r>
              <a:rPr lang="ru-RU" dirty="0"/>
              <a:t>; </a:t>
            </a:r>
            <a:r>
              <a:rPr lang="en-US" i="1" dirty="0"/>
              <a:t>Lovitts (2001)</a:t>
            </a:r>
            <a:r>
              <a:rPr lang="ru-RU" dirty="0"/>
              <a:t>: «дело не в студенте, а в среде») против жизненных обстоятельств нетрадиционных студентов (</a:t>
            </a:r>
            <a:r>
              <a:rPr lang="en-US" i="1" dirty="0"/>
              <a:t>Bean &amp; Metzner (1985)</a:t>
            </a:r>
            <a:r>
              <a:rPr lang="ru-RU" dirty="0"/>
              <a:t>)</a:t>
            </a:r>
          </a:p>
          <a:p>
            <a:pPr>
              <a:lnSpc>
                <a:spcPct val="110000"/>
              </a:lnSpc>
              <a:spcBef>
                <a:spcPts val="0"/>
              </a:spcBef>
              <a:spcAft>
                <a:spcPts val="800"/>
              </a:spcAft>
            </a:pPr>
            <a:r>
              <a:rPr lang="ru-RU" i="1" dirty="0"/>
              <a:t>(см. также Castelló </a:t>
            </a:r>
            <a:r>
              <a:rPr lang="ru-RU" i="1" dirty="0" err="1"/>
              <a:t>et</a:t>
            </a:r>
            <a:r>
              <a:rPr lang="ru-RU" i="1" dirty="0"/>
              <a:t> </a:t>
            </a:r>
            <a:r>
              <a:rPr lang="ru-RU" i="1" dirty="0" err="1"/>
              <a:t>al</a:t>
            </a:r>
            <a:r>
              <a:rPr lang="ru-RU" i="1" dirty="0"/>
              <a:t>., 2017 — испанский контекст)</a:t>
            </a:r>
          </a:p>
          <a:p>
            <a:pPr>
              <a:lnSpc>
                <a:spcPct val="110000"/>
              </a:lnSpc>
              <a:spcBef>
                <a:spcPts val="0"/>
              </a:spcBef>
              <a:spcAft>
                <a:spcPts val="800"/>
              </a:spcAft>
            </a:pPr>
            <a:endParaRPr lang="en-US" b="1" dirty="0"/>
          </a:p>
          <a:p>
            <a:pPr>
              <a:lnSpc>
                <a:spcPct val="110000"/>
              </a:lnSpc>
            </a:pPr>
            <a:endParaRPr lang="en-US" dirty="0"/>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ДАННЫЕ</a:t>
            </a:r>
          </a:p>
        </p:txBody>
      </p:sp>
      <p:sp>
        <p:nvSpPr>
          <p:cNvPr id="9" name="Текст 3">
            <a:extLst>
              <a:ext uri="{FF2B5EF4-FFF2-40B4-BE49-F238E27FC236}">
                <a16:creationId xmlns:a16="http://schemas.microsoft.com/office/drawing/2014/main" id="{81790008-727C-62D8-B44D-4A1DB434BEE6}"/>
              </a:ext>
            </a:extLst>
          </p:cNvPr>
          <p:cNvSpPr txBox="1">
            <a:spLocks/>
          </p:cNvSpPr>
          <p:nvPr/>
        </p:nvSpPr>
        <p:spPr>
          <a:xfrm>
            <a:off x="6360544" y="2117870"/>
            <a:ext cx="5245561" cy="4331566"/>
          </a:xfrm>
          <a:prstGeom prst="rect">
            <a:avLst/>
          </a:prstGeom>
        </p:spPr>
        <p:txBody>
          <a:bodyPr lIns="0" tIns="0" r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Aft>
                <a:spcPts val="800"/>
              </a:spcAft>
            </a:pPr>
            <a:r>
              <a:rPr lang="ru-RU" b="1" dirty="0"/>
              <a:t>Ограничения:</a:t>
            </a:r>
          </a:p>
          <a:p>
            <a:pPr>
              <a:lnSpc>
                <a:spcPct val="110000"/>
              </a:lnSpc>
              <a:spcBef>
                <a:spcPts val="0"/>
              </a:spcBef>
              <a:spcAft>
                <a:spcPts val="800"/>
              </a:spcAft>
            </a:pPr>
            <a:r>
              <a:rPr lang="ru-RU" b="1" dirty="0"/>
              <a:t>• Онлайн-опрос с самоселекцией, весов нет </a:t>
            </a:r>
            <a:r>
              <a:rPr lang="ru-RU" dirty="0"/>
              <a:t>— анализируем структуру связей внутри массива, доли в популяции не восстанавливаем.</a:t>
            </a:r>
          </a:p>
          <a:p>
            <a:pPr>
              <a:lnSpc>
                <a:spcPct val="110000"/>
              </a:lnSpc>
              <a:spcBef>
                <a:spcPts val="0"/>
              </a:spcBef>
              <a:spcAft>
                <a:spcPts val="800"/>
              </a:spcAft>
            </a:pPr>
            <a:r>
              <a:rPr lang="ru-RU" b="1" dirty="0"/>
              <a:t>• Кросс-секция </a:t>
            </a:r>
            <a:r>
              <a:rPr lang="ru-RU" dirty="0"/>
              <a:t>— выводы об ассоциациях, а не о причинности.</a:t>
            </a:r>
          </a:p>
          <a:p>
            <a:pPr>
              <a:lnSpc>
                <a:spcPct val="110000"/>
              </a:lnSpc>
              <a:spcBef>
                <a:spcPts val="0"/>
              </a:spcBef>
              <a:spcAft>
                <a:spcPts val="800"/>
              </a:spcAft>
            </a:pPr>
            <a:r>
              <a:rPr lang="ru-RU" b="1" dirty="0"/>
              <a:t>Аналитическая выборка n = 4569 </a:t>
            </a:r>
            <a:r>
              <a:rPr lang="ru-RU" dirty="0"/>
              <a:t>(аспиранты с научным руководителем). </a:t>
            </a:r>
          </a:p>
          <a:p>
            <a:pPr>
              <a:lnSpc>
                <a:spcPct val="110000"/>
              </a:lnSpc>
              <a:spcBef>
                <a:spcPts val="0"/>
              </a:spcBef>
              <a:spcAft>
                <a:spcPts val="2000"/>
              </a:spcAft>
            </a:pPr>
            <a:r>
              <a:rPr lang="ru-RU" b="1" dirty="0"/>
              <a:t>Пропуски</a:t>
            </a:r>
            <a:r>
              <a:rPr lang="ru-RU" dirty="0"/>
              <a:t> — множественная импутация MICE, 20 наборов, пулинг оценок по правилам Рубина. (complete-case теряет треть выборки и занижает общий R² (0,256 против 0,277))</a:t>
            </a:r>
          </a:p>
          <a:p>
            <a:pPr>
              <a:lnSpc>
                <a:spcPct val="110000"/>
              </a:lnSpc>
              <a:spcAft>
                <a:spcPts val="1200"/>
              </a:spcAft>
            </a:pPr>
            <a:endParaRPr lang="ru-RU" b="1" dirty="0"/>
          </a:p>
          <a:p>
            <a:pPr>
              <a:lnSpc>
                <a:spcPct val="110000"/>
              </a:lnSpc>
              <a:spcAft>
                <a:spcPts val="1200"/>
              </a:spcAft>
            </a:pPr>
            <a:endParaRPr lang="ru-RU" b="1" dirty="0"/>
          </a:p>
          <a:p>
            <a:pPr>
              <a:lnSpc>
                <a:spcPct val="110000"/>
              </a:lnSpc>
              <a:spcAft>
                <a:spcPts val="1200"/>
              </a:spcAft>
            </a:pPr>
            <a:endParaRPr lang="ru-RU" dirty="0"/>
          </a:p>
          <a:p>
            <a:pPr>
              <a:lnSpc>
                <a:spcPct val="110000"/>
              </a:lnSpc>
              <a:spcBef>
                <a:spcPts val="0"/>
              </a:spcBef>
              <a:spcAft>
                <a:spcPts val="1200"/>
              </a:spcAft>
            </a:pPr>
            <a:endParaRPr lang="en-US" b="1" dirty="0"/>
          </a:p>
          <a:p>
            <a:pPr>
              <a:lnSpc>
                <a:spcPct val="110000"/>
              </a:lnSpc>
            </a:pPr>
            <a:endParaRPr lang="en-US" dirty="0"/>
          </a:p>
        </p:txBody>
      </p:sp>
    </p:spTree>
    <p:extLst>
      <p:ext uri="{BB962C8B-B14F-4D97-AF65-F5344CB8AC3E}">
        <p14:creationId xmlns:p14="http://schemas.microsoft.com/office/powerpoint/2010/main" val="2822608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7" y="1369966"/>
            <a:ext cx="11495855" cy="777025"/>
          </a:xfrm>
        </p:spPr>
        <p:txBody>
          <a:bodyPr>
            <a:normAutofit/>
          </a:bodyPr>
          <a:lstStyle/>
          <a:p>
            <a:r>
              <a:rPr lang="ru-RU" sz="2600" b="1" dirty="0"/>
              <a:t>Каждый пятый </a:t>
            </a:r>
            <a:r>
              <a:rPr lang="ru-RU" sz="2600" dirty="0"/>
              <a:t>хочет бросить аспирантуру — и эта мера валидна</a:t>
            </a: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ЦЕЛЕВАЯ ПЕРЕМЕННАЯ</a:t>
            </a:r>
          </a:p>
        </p:txBody>
      </p:sp>
      <p:pic>
        <p:nvPicPr>
          <p:cNvPr id="9" name="Рисунок 8" descr="Изображение выглядит как текст, снимок экрана, диаграмма, дизайн&#10;&#10;Контент, сгенерированный ИИ, может содержать ошибки.">
            <a:extLst>
              <a:ext uri="{FF2B5EF4-FFF2-40B4-BE49-F238E27FC236}">
                <a16:creationId xmlns:a16="http://schemas.microsoft.com/office/drawing/2014/main" id="{E9BFA71A-E7A7-820D-9FF5-570263B14512}"/>
              </a:ext>
            </a:extLst>
          </p:cNvPr>
          <p:cNvPicPr>
            <a:picLocks noChangeAspect="1"/>
          </p:cNvPicPr>
          <p:nvPr/>
        </p:nvPicPr>
        <p:blipFill>
          <a:blip r:embed="rId2"/>
          <a:stretch>
            <a:fillRect/>
          </a:stretch>
        </p:blipFill>
        <p:spPr>
          <a:xfrm>
            <a:off x="227699" y="1992697"/>
            <a:ext cx="6159219" cy="3622637"/>
          </a:xfrm>
          <a:prstGeom prst="rect">
            <a:avLst/>
          </a:prstGeom>
        </p:spPr>
      </p:pic>
      <p:pic>
        <p:nvPicPr>
          <p:cNvPr id="11" name="Рисунок 10" descr="Изображение выглядит как текст, снимок экрана, диаграмма, Прямоугольник&#10;&#10;Контент, сгенерированный ИИ, может содержать ошибки.">
            <a:extLst>
              <a:ext uri="{FF2B5EF4-FFF2-40B4-BE49-F238E27FC236}">
                <a16:creationId xmlns:a16="http://schemas.microsoft.com/office/drawing/2014/main" id="{B8D9D23B-5C43-CBDE-DA7F-184D6CF4D7D1}"/>
              </a:ext>
            </a:extLst>
          </p:cNvPr>
          <p:cNvPicPr>
            <a:picLocks noChangeAspect="1"/>
          </p:cNvPicPr>
          <p:nvPr/>
        </p:nvPicPr>
        <p:blipFill>
          <a:blip r:embed="rId3"/>
          <a:srcRect r="3697"/>
          <a:stretch/>
        </p:blipFill>
        <p:spPr>
          <a:xfrm>
            <a:off x="6032782" y="2019406"/>
            <a:ext cx="5931520" cy="3755172"/>
          </a:xfrm>
          <a:prstGeom prst="rect">
            <a:avLst/>
          </a:prstGeom>
        </p:spPr>
      </p:pic>
      <p:sp>
        <p:nvSpPr>
          <p:cNvPr id="12" name="cap-target">
            <a:extLst>
              <a:ext uri="{FF2B5EF4-FFF2-40B4-BE49-F238E27FC236}">
                <a16:creationId xmlns:a16="http://schemas.microsoft.com/office/drawing/2014/main" id="{E2F9BA80-90B6-55B7-B557-3BCCF1D8E89A}"/>
              </a:ext>
            </a:extLst>
          </p:cNvPr>
          <p:cNvSpPr txBox="1"/>
          <p:nvPr/>
        </p:nvSpPr>
        <p:spPr>
          <a:xfrm>
            <a:off x="526458" y="5801287"/>
            <a:ext cx="5506324" cy="586742"/>
          </a:xfrm>
          <a:prstGeom prst="rect">
            <a:avLst/>
          </a:prstGeom>
          <a:noFill/>
          <a:ln>
            <a:noFill/>
          </a:ln>
        </p:spPr>
        <p:txBody>
          <a:bodyPr wrap="square" lIns="0" tIns="0" rIns="0" bIns="0" rtlCol="0"/>
          <a:lstStyle/>
          <a:p>
            <a:pPr>
              <a:lnSpc>
                <a:spcPct val="140000"/>
              </a:lnSpc>
            </a:pPr>
            <a:r>
              <a:rPr lang="en-US" sz="1300" b="1" noProof="1">
                <a:latin typeface="HSE Sans" panose="02000000000000000000" pitchFamily="50" charset="0"/>
                <a:ea typeface="MiSans"/>
              </a:rPr>
              <a:t>«Я часто хочу бросить обучение в аспирантуре»:</a:t>
            </a:r>
            <a:r>
              <a:rPr lang="en-US" sz="1300" noProof="1">
                <a:latin typeface="HSE Sans" panose="02000000000000000000" pitchFamily="50" charset="0"/>
                <a:ea typeface="MiSans"/>
              </a:rPr>
              <a:t> скорее согласны 13,4% + полностью согласны 8,3% = </a:t>
            </a:r>
            <a:r>
              <a:rPr lang="en-US" sz="1300" b="1" noProof="1">
                <a:latin typeface="HSE Sans" panose="02000000000000000000" pitchFamily="50" charset="0"/>
                <a:ea typeface="MiSans"/>
              </a:rPr>
              <a:t>целевая 21,7% </a:t>
            </a:r>
            <a:r>
              <a:rPr lang="en-US" sz="1300" noProof="1">
                <a:latin typeface="HSE Sans" panose="02000000000000000000" pitchFamily="50" charset="0"/>
                <a:ea typeface="MiSans"/>
              </a:rPr>
              <a:t>(n = 4631)</a:t>
            </a:r>
            <a:r>
              <a:rPr lang="ru-RU" sz="1300" noProof="1">
                <a:latin typeface="HSE Sans" panose="02000000000000000000" pitchFamily="50" charset="0"/>
                <a:ea typeface="MiSans"/>
              </a:rPr>
              <a:t> (бинарная)</a:t>
            </a:r>
            <a:endParaRPr lang="en-US" sz="1300" noProof="1">
              <a:latin typeface="HSE Sans" panose="02000000000000000000" pitchFamily="50" charset="0"/>
            </a:endParaRPr>
          </a:p>
        </p:txBody>
      </p:sp>
      <p:sp>
        <p:nvSpPr>
          <p:cNvPr id="13" name="cap-validity">
            <a:extLst>
              <a:ext uri="{FF2B5EF4-FFF2-40B4-BE49-F238E27FC236}">
                <a16:creationId xmlns:a16="http://schemas.microsoft.com/office/drawing/2014/main" id="{B670C07D-11F8-3CA3-2A77-27D1E13CC66B}"/>
              </a:ext>
            </a:extLst>
          </p:cNvPr>
          <p:cNvSpPr txBox="1"/>
          <p:nvPr/>
        </p:nvSpPr>
        <p:spPr>
          <a:xfrm>
            <a:off x="6331544" y="5801287"/>
            <a:ext cx="5334000" cy="586742"/>
          </a:xfrm>
          <a:prstGeom prst="rect">
            <a:avLst/>
          </a:prstGeom>
          <a:noFill/>
          <a:ln>
            <a:noFill/>
          </a:ln>
        </p:spPr>
        <p:txBody>
          <a:bodyPr wrap="square" lIns="0" tIns="0" rIns="0" bIns="0" rtlCol="0"/>
          <a:lstStyle/>
          <a:p>
            <a:pPr>
              <a:lnSpc>
                <a:spcPct val="140000"/>
              </a:lnSpc>
            </a:pPr>
            <a:r>
              <a:rPr lang="en-US" sz="1300" b="1" noProof="1">
                <a:latin typeface="HSE Sans" panose="02000000000000000000" pitchFamily="50" charset="0"/>
                <a:ea typeface="MiSans"/>
              </a:rPr>
              <a:t>Валидность: </a:t>
            </a:r>
            <a:r>
              <a:rPr lang="en-US" sz="1300" noProof="1">
                <a:latin typeface="HSE Sans" panose="02000000000000000000" pitchFamily="50" charset="0"/>
                <a:ea typeface="MiSans"/>
              </a:rPr>
              <a:t>доля целевой растёт от 12,6% при высокой самооценке шансов защиты до 63–64% при низкой; порядковая корреляция ρ = 0,36</a:t>
            </a:r>
            <a:endParaRPr lang="en-US" sz="1300" noProof="1">
              <a:latin typeface="HSE Sans" panose="02000000000000000000" pitchFamily="50" charset="0"/>
            </a:endParaRPr>
          </a:p>
        </p:txBody>
      </p:sp>
    </p:spTree>
    <p:extLst>
      <p:ext uri="{BB962C8B-B14F-4D97-AF65-F5344CB8AC3E}">
        <p14:creationId xmlns:p14="http://schemas.microsoft.com/office/powerpoint/2010/main" val="3393670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7" y="1369966"/>
            <a:ext cx="11020205" cy="458831"/>
          </a:xfrm>
        </p:spPr>
        <p:txBody>
          <a:bodyPr>
            <a:noAutofit/>
          </a:bodyPr>
          <a:lstStyle/>
          <a:p>
            <a:r>
              <a:rPr lang="ru-RU" sz="2600" dirty="0"/>
              <a:t>Блочная логит-регрессия, декомпозиция Tjur R² (инвариантная к порядку)</a:t>
            </a: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ДИЗАЙН И МЕТОД</a:t>
            </a:r>
          </a:p>
        </p:txBody>
      </p:sp>
      <p:sp>
        <p:nvSpPr>
          <p:cNvPr id="7" name="Текст 3">
            <a:extLst>
              <a:ext uri="{FF2B5EF4-FFF2-40B4-BE49-F238E27FC236}">
                <a16:creationId xmlns:a16="http://schemas.microsoft.com/office/drawing/2014/main" id="{02E6EA74-F7E3-CDFD-BC29-652CE2A03078}"/>
              </a:ext>
            </a:extLst>
          </p:cNvPr>
          <p:cNvSpPr>
            <a:spLocks noGrp="1"/>
          </p:cNvSpPr>
          <p:nvPr>
            <p:ph type="body" sz="quarter" idx="12"/>
          </p:nvPr>
        </p:nvSpPr>
        <p:spPr>
          <a:xfrm>
            <a:off x="585898" y="2163684"/>
            <a:ext cx="4598946" cy="4285751"/>
          </a:xfrm>
        </p:spPr>
        <p:txBody>
          <a:bodyPr>
            <a:noAutofit/>
          </a:bodyPr>
          <a:lstStyle/>
          <a:p>
            <a:pPr>
              <a:lnSpc>
                <a:spcPct val="120000"/>
              </a:lnSpc>
              <a:spcBef>
                <a:spcPts val="0"/>
              </a:spcBef>
              <a:spcAft>
                <a:spcPts val="600"/>
              </a:spcAft>
            </a:pPr>
            <a:r>
              <a:rPr lang="ru-RU" b="1" dirty="0"/>
              <a:t>G1</a:t>
            </a:r>
            <a:r>
              <a:rPr lang="ru-RU" dirty="0"/>
              <a:t> — образовательная среда и научное руководство (блоки </a:t>
            </a:r>
            <a:r>
              <a:rPr lang="ru-RU" b="1" dirty="0"/>
              <a:t>E</a:t>
            </a:r>
            <a:r>
              <a:rPr lang="ru-RU" dirty="0"/>
              <a:t> и </a:t>
            </a:r>
            <a:r>
              <a:rPr lang="ru-RU" b="1" dirty="0"/>
              <a:t>S</a:t>
            </a:r>
            <a:r>
              <a:rPr lang="ru-RU" dirty="0"/>
              <a:t>).</a:t>
            </a:r>
          </a:p>
          <a:p>
            <a:pPr>
              <a:lnSpc>
                <a:spcPct val="120000"/>
              </a:lnSpc>
              <a:spcBef>
                <a:spcPts val="0"/>
              </a:spcBef>
              <a:spcAft>
                <a:spcPts val="600"/>
              </a:spcAft>
            </a:pPr>
            <a:r>
              <a:rPr lang="ru-RU" b="1" dirty="0"/>
              <a:t>G2</a:t>
            </a:r>
            <a:r>
              <a:rPr lang="ru-RU" dirty="0"/>
              <a:t> — жизненные обстоятельства (блок </a:t>
            </a:r>
            <a:r>
              <a:rPr lang="ru-RU" b="1" dirty="0"/>
              <a:t>L</a:t>
            </a:r>
            <a:r>
              <a:rPr lang="ru-RU" dirty="0"/>
              <a:t>).</a:t>
            </a:r>
          </a:p>
          <a:p>
            <a:pPr>
              <a:lnSpc>
                <a:spcPct val="120000"/>
              </a:lnSpc>
              <a:spcBef>
                <a:spcPts val="0"/>
              </a:spcBef>
              <a:spcAft>
                <a:spcPts val="600"/>
              </a:spcAft>
            </a:pPr>
            <a:r>
              <a:rPr lang="ru-RU" b="1" dirty="0"/>
              <a:t>Контроли</a:t>
            </a:r>
            <a:r>
              <a:rPr lang="ru-RU" dirty="0"/>
              <a:t> — демография и мотивация (</a:t>
            </a:r>
            <a:r>
              <a:rPr lang="ru-RU" b="1" dirty="0"/>
              <a:t>D + M</a:t>
            </a:r>
            <a:r>
              <a:rPr lang="ru-RU" dirty="0"/>
              <a:t>).</a:t>
            </a:r>
          </a:p>
          <a:p>
            <a:pPr>
              <a:lnSpc>
                <a:spcPct val="120000"/>
              </a:lnSpc>
              <a:spcBef>
                <a:spcPts val="0"/>
              </a:spcBef>
              <a:spcAft>
                <a:spcPts val="2400"/>
              </a:spcAft>
            </a:pPr>
            <a:r>
              <a:rPr lang="ru-RU" b="1" dirty="0"/>
              <a:t>Индексы среды и руководства </a:t>
            </a:r>
            <a:r>
              <a:rPr lang="ru-RU" dirty="0"/>
              <a:t>— суммы и средние пунктов анкеты; надёжность шкал (α Кронбаха) 0,87–0,97.</a:t>
            </a:r>
          </a:p>
          <a:p>
            <a:pPr>
              <a:lnSpc>
                <a:spcPct val="120000"/>
              </a:lnSpc>
              <a:spcBef>
                <a:spcPts val="0"/>
              </a:spcBef>
              <a:spcAft>
                <a:spcPts val="1200"/>
              </a:spcAft>
            </a:pPr>
            <a:r>
              <a:rPr lang="ru-RU" b="1" dirty="0"/>
              <a:t>Иерархическая блочная логистическая регрессия; </a:t>
            </a:r>
            <a:endParaRPr lang="en-US" b="1" dirty="0"/>
          </a:p>
          <a:p>
            <a:pPr>
              <a:lnSpc>
                <a:spcPct val="120000"/>
              </a:lnSpc>
              <a:spcBef>
                <a:spcPts val="0"/>
              </a:spcBef>
              <a:spcAft>
                <a:spcPts val="1200"/>
              </a:spcAft>
            </a:pPr>
            <a:r>
              <a:rPr lang="en-US" b="1" dirty="0"/>
              <a:t>C</a:t>
            </a:r>
            <a:r>
              <a:rPr lang="ru-RU" b="1" dirty="0"/>
              <a:t>ommonality-декомпозиция </a:t>
            </a:r>
            <a:r>
              <a:rPr lang="ru-RU" dirty="0"/>
              <a:t>Tjur R² по всем 15 подмоделям (все непустые комбинации 4 блоков) даёт уникальные и общие доли блоков, инвариантные к порядку ввода. </a:t>
            </a:r>
            <a:endParaRPr lang="en-US" dirty="0"/>
          </a:p>
          <a:p>
            <a:pPr>
              <a:lnSpc>
                <a:spcPct val="120000"/>
              </a:lnSpc>
              <a:spcBef>
                <a:spcPts val="0"/>
              </a:spcBef>
              <a:spcAft>
                <a:spcPts val="1200"/>
              </a:spcAft>
            </a:pPr>
            <a:r>
              <a:rPr lang="ru-RU" b="1" dirty="0"/>
              <a:t>LMG-рейтинг</a:t>
            </a:r>
            <a:r>
              <a:rPr lang="ru-RU" dirty="0"/>
              <a:t> — независимая перекрёстная проверка.</a:t>
            </a:r>
            <a:endParaRPr lang="en-US" dirty="0"/>
          </a:p>
          <a:p>
            <a:pPr>
              <a:lnSpc>
                <a:spcPct val="120000"/>
              </a:lnSpc>
            </a:pPr>
            <a:r>
              <a:rPr lang="ru-RU" b="1" dirty="0"/>
              <a:t>15 подмоделей × 20 импутаций; n = 4569</a:t>
            </a:r>
          </a:p>
          <a:p>
            <a:pPr>
              <a:lnSpc>
                <a:spcPct val="120000"/>
              </a:lnSpc>
              <a:spcBef>
                <a:spcPts val="0"/>
              </a:spcBef>
            </a:pPr>
            <a:r>
              <a:rPr lang="ru-RU" b="1" dirty="0"/>
              <a:t>EPV = 15,7 </a:t>
            </a:r>
            <a:r>
              <a:rPr lang="ru-RU" dirty="0"/>
              <a:t>(972 события / 62 параметра)</a:t>
            </a:r>
          </a:p>
          <a:p>
            <a:pPr>
              <a:lnSpc>
                <a:spcPct val="120000"/>
              </a:lnSpc>
              <a:spcAft>
                <a:spcPts val="1200"/>
              </a:spcAft>
            </a:pPr>
            <a:endParaRPr lang="ru-RU" dirty="0"/>
          </a:p>
          <a:p>
            <a:pPr>
              <a:lnSpc>
                <a:spcPct val="120000"/>
              </a:lnSpc>
              <a:spcBef>
                <a:spcPts val="0"/>
              </a:spcBef>
              <a:spcAft>
                <a:spcPts val="1200"/>
              </a:spcAft>
            </a:pPr>
            <a:endParaRPr lang="en-US" b="1" dirty="0"/>
          </a:p>
          <a:p>
            <a:pPr>
              <a:lnSpc>
                <a:spcPct val="120000"/>
              </a:lnSpc>
            </a:pPr>
            <a:endParaRPr lang="en-US" dirty="0"/>
          </a:p>
        </p:txBody>
      </p:sp>
      <p:pic>
        <p:nvPicPr>
          <p:cNvPr id="10" name="Рисунок 9" descr="Изображение выглядит как текст, снимок экрана, диаграмма, число&#10;&#10;Контент, сгенерированный ИИ, может содержать ошибки.">
            <a:extLst>
              <a:ext uri="{FF2B5EF4-FFF2-40B4-BE49-F238E27FC236}">
                <a16:creationId xmlns:a16="http://schemas.microsoft.com/office/drawing/2014/main" id="{E3524FB9-A1BC-E2F7-9169-2ADA3AC7FE18}"/>
              </a:ext>
            </a:extLst>
          </p:cNvPr>
          <p:cNvPicPr>
            <a:picLocks noChangeAspect="1"/>
          </p:cNvPicPr>
          <p:nvPr/>
        </p:nvPicPr>
        <p:blipFill>
          <a:blip r:embed="rId2"/>
          <a:stretch>
            <a:fillRect/>
          </a:stretch>
        </p:blipFill>
        <p:spPr>
          <a:xfrm>
            <a:off x="5184844" y="2098410"/>
            <a:ext cx="6764356" cy="3521396"/>
          </a:xfrm>
          <a:prstGeom prst="rect">
            <a:avLst/>
          </a:prstGeom>
        </p:spPr>
      </p:pic>
      <p:sp>
        <p:nvSpPr>
          <p:cNvPr id="12" name="TextBox 11">
            <a:extLst>
              <a:ext uri="{FF2B5EF4-FFF2-40B4-BE49-F238E27FC236}">
                <a16:creationId xmlns:a16="http://schemas.microsoft.com/office/drawing/2014/main" id="{E5F2B778-B378-5D7F-B1EB-26283EB1B05F}"/>
              </a:ext>
            </a:extLst>
          </p:cNvPr>
          <p:cNvSpPr txBox="1"/>
          <p:nvPr/>
        </p:nvSpPr>
        <p:spPr>
          <a:xfrm>
            <a:off x="5646907" y="5619806"/>
            <a:ext cx="6094378" cy="669927"/>
          </a:xfrm>
          <a:prstGeom prst="rect">
            <a:avLst/>
          </a:prstGeom>
          <a:noFill/>
        </p:spPr>
        <p:txBody>
          <a:bodyPr wrap="square">
            <a:spAutoFit/>
          </a:bodyPr>
          <a:lstStyle/>
          <a:p>
            <a:pPr>
              <a:lnSpc>
                <a:spcPct val="140000"/>
              </a:lnSpc>
            </a:pPr>
            <a:r>
              <a:rPr lang="en-US" sz="1400" b="1" noProof="1">
                <a:latin typeface="HSE Sans" panose="02000000000000000000" pitchFamily="50" charset="0"/>
                <a:ea typeface="MiSans"/>
              </a:rPr>
              <a:t>Прирост Tjur R² по блокам:</a:t>
            </a:r>
            <a:r>
              <a:rPr lang="en-US" sz="1400" noProof="1">
                <a:latin typeface="HSE Sans" panose="02000000000000000000" pitchFamily="50" charset="0"/>
                <a:ea typeface="MiSans"/>
              </a:rPr>
              <a:t> среда (+0,153) даёт наибольший прирост, даже когда вводится после обстоятельств</a:t>
            </a:r>
            <a:endParaRPr lang="en-US" sz="1400" noProof="1">
              <a:latin typeface="HSE Sans" panose="02000000000000000000" pitchFamily="50" charset="0"/>
            </a:endParaRPr>
          </a:p>
        </p:txBody>
      </p:sp>
    </p:spTree>
    <p:extLst>
      <p:ext uri="{BB962C8B-B14F-4D97-AF65-F5344CB8AC3E}">
        <p14:creationId xmlns:p14="http://schemas.microsoft.com/office/powerpoint/2010/main" val="2204332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7" y="1369967"/>
            <a:ext cx="11155387" cy="580870"/>
          </a:xfrm>
        </p:spPr>
        <p:txBody>
          <a:bodyPr>
            <a:normAutofit/>
          </a:bodyPr>
          <a:lstStyle/>
          <a:p>
            <a:r>
              <a:rPr lang="ru-RU" sz="2600" dirty="0"/>
              <a:t>Подгруппы риска: максимум — при проблемах среды и руководства </a:t>
            </a: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ПОРТРЕТ РИСКА</a:t>
            </a:r>
          </a:p>
        </p:txBody>
      </p:sp>
      <p:pic>
        <p:nvPicPr>
          <p:cNvPr id="11" name="Рисунок 10" descr="Изображение выглядит как текст, снимок экрана, Шрифт, число&#10;&#10;Контент, сгенерированный ИИ, может содержать ошибки.">
            <a:extLst>
              <a:ext uri="{FF2B5EF4-FFF2-40B4-BE49-F238E27FC236}">
                <a16:creationId xmlns:a16="http://schemas.microsoft.com/office/drawing/2014/main" id="{DC26461C-9844-21F4-14C4-B47FF618E268}"/>
              </a:ext>
            </a:extLst>
          </p:cNvPr>
          <p:cNvPicPr>
            <a:picLocks noChangeAspect="1"/>
          </p:cNvPicPr>
          <p:nvPr/>
        </p:nvPicPr>
        <p:blipFill>
          <a:blip r:embed="rId2"/>
          <a:stretch>
            <a:fillRect/>
          </a:stretch>
        </p:blipFill>
        <p:spPr>
          <a:xfrm>
            <a:off x="150152" y="1915860"/>
            <a:ext cx="9226314" cy="4096520"/>
          </a:xfrm>
          <a:prstGeom prst="rect">
            <a:avLst/>
          </a:prstGeom>
        </p:spPr>
      </p:pic>
      <p:sp>
        <p:nvSpPr>
          <p:cNvPr id="14" name="takeaway">
            <a:extLst>
              <a:ext uri="{FF2B5EF4-FFF2-40B4-BE49-F238E27FC236}">
                <a16:creationId xmlns:a16="http://schemas.microsoft.com/office/drawing/2014/main" id="{44B31267-2025-89C2-5ACC-502316F60EF2}"/>
              </a:ext>
            </a:extLst>
          </p:cNvPr>
          <p:cNvSpPr txBox="1"/>
          <p:nvPr/>
        </p:nvSpPr>
        <p:spPr>
          <a:xfrm>
            <a:off x="585896" y="5988068"/>
            <a:ext cx="10805193" cy="457200"/>
          </a:xfrm>
          <a:prstGeom prst="rect">
            <a:avLst/>
          </a:prstGeom>
          <a:noFill/>
          <a:ln>
            <a:noFill/>
          </a:ln>
        </p:spPr>
        <p:txBody>
          <a:bodyPr wrap="square" lIns="0" tIns="0" rIns="0" bIns="0" rtlCol="0"/>
          <a:lstStyle/>
          <a:p>
            <a:pPr>
              <a:lnSpc>
                <a:spcPct val="130000"/>
              </a:lnSpc>
            </a:pPr>
            <a:r>
              <a:rPr lang="en-US" sz="1300" b="1" noProof="1">
                <a:latin typeface="HSE Sans" panose="02000000000000000000" pitchFamily="50" charset="0"/>
                <a:ea typeface="MiSans"/>
              </a:rPr>
              <a:t>Первые четыре строки — качество программы и руководитель</a:t>
            </a:r>
            <a:r>
              <a:rPr lang="ru-RU" sz="1300" b="1" noProof="1">
                <a:latin typeface="HSE Sans" panose="02000000000000000000" pitchFamily="50" charset="0"/>
                <a:ea typeface="MiSans"/>
              </a:rPr>
              <a:t> </a:t>
            </a:r>
            <a:r>
              <a:rPr lang="ru-RU" sz="1300" noProof="1">
                <a:latin typeface="HSE Sans" panose="02000000000000000000" pitchFamily="50" charset="0"/>
                <a:ea typeface="MiSans"/>
              </a:rPr>
              <a:t>(блоки </a:t>
            </a:r>
            <a:r>
              <a:rPr lang="en-US" sz="1300" noProof="1">
                <a:latin typeface="HSE Sans" panose="02000000000000000000" pitchFamily="50" charset="0"/>
                <a:ea typeface="MiSans"/>
              </a:rPr>
              <a:t>E </a:t>
            </a:r>
            <a:r>
              <a:rPr lang="ru-RU" sz="1300" noProof="1">
                <a:latin typeface="HSE Sans" panose="02000000000000000000" pitchFamily="50" charset="0"/>
                <a:ea typeface="MiSans"/>
              </a:rPr>
              <a:t>и </a:t>
            </a:r>
            <a:r>
              <a:rPr lang="en-US" sz="1300" noProof="1">
                <a:latin typeface="HSE Sans" panose="02000000000000000000" pitchFamily="50" charset="0"/>
                <a:ea typeface="MiSans"/>
              </a:rPr>
              <a:t>S</a:t>
            </a:r>
            <a:r>
              <a:rPr lang="ru-RU" sz="1300" noProof="1">
                <a:latin typeface="HSE Sans" panose="02000000000000000000" pitchFamily="50" charset="0"/>
                <a:ea typeface="MiSans"/>
              </a:rPr>
              <a:t>)</a:t>
            </a:r>
            <a:r>
              <a:rPr lang="en-US" sz="1300" noProof="1">
                <a:latin typeface="HSE Sans" panose="02000000000000000000" pitchFamily="50" charset="0"/>
                <a:ea typeface="MiSans"/>
              </a:rPr>
              <a:t>. Депрессивная симптоматика (43,0%) — значимый, но не главный маркер</a:t>
            </a:r>
            <a:r>
              <a:rPr lang="ru-RU" sz="1300" noProof="1">
                <a:latin typeface="HSE Sans" panose="02000000000000000000" pitchFamily="50" charset="0"/>
                <a:ea typeface="MiSans"/>
              </a:rPr>
              <a:t> (в модели забирает 23% уникальной доли среды)</a:t>
            </a:r>
            <a:r>
              <a:rPr lang="en-US" sz="1300" noProof="1">
                <a:latin typeface="HSE Sans" panose="02000000000000000000" pitchFamily="50" charset="0"/>
                <a:ea typeface="MiSans"/>
              </a:rPr>
              <a:t>. Работа вне вуза </a:t>
            </a:r>
            <a:r>
              <a:rPr lang="ru-RU" sz="1300" noProof="1">
                <a:latin typeface="HSE Sans" panose="02000000000000000000" pitchFamily="50" charset="0"/>
                <a:ea typeface="MiSans"/>
              </a:rPr>
              <a:t>(из блока </a:t>
            </a:r>
            <a:r>
              <a:rPr lang="en-US" sz="1300" noProof="1">
                <a:latin typeface="HSE Sans" panose="02000000000000000000" pitchFamily="50" charset="0"/>
                <a:ea typeface="MiSans"/>
              </a:rPr>
              <a:t>L</a:t>
            </a:r>
            <a:r>
              <a:rPr lang="ru-RU" sz="1300" noProof="1">
                <a:latin typeface="HSE Sans" panose="02000000000000000000" pitchFamily="50" charset="0"/>
                <a:ea typeface="MiSans"/>
              </a:rPr>
              <a:t>) </a:t>
            </a:r>
            <a:r>
              <a:rPr lang="en-US" sz="1300" noProof="1">
                <a:latin typeface="HSE Sans" panose="02000000000000000000" pitchFamily="50" charset="0"/>
                <a:ea typeface="MiSans"/>
              </a:rPr>
              <a:t>сама</a:t>
            </a:r>
            <a:r>
              <a:rPr lang="ru-RU" sz="1300" noProof="1">
                <a:latin typeface="HSE Sans" panose="02000000000000000000" pitchFamily="50" charset="0"/>
                <a:ea typeface="MiSans"/>
              </a:rPr>
              <a:t> </a:t>
            </a:r>
            <a:r>
              <a:rPr lang="en-US" sz="1300" noProof="1">
                <a:latin typeface="HSE Sans" panose="02000000000000000000" pitchFamily="50" charset="0"/>
                <a:ea typeface="MiSans"/>
              </a:rPr>
              <a:t>по себе риска не добавляет: 22,1% ≈</a:t>
            </a:r>
            <a:r>
              <a:rPr lang="ru-RU" sz="1300" noProof="1">
                <a:latin typeface="HSE Sans" panose="02000000000000000000" pitchFamily="50" charset="0"/>
                <a:ea typeface="MiSans"/>
              </a:rPr>
              <a:t> </a:t>
            </a:r>
            <a:r>
              <a:rPr lang="en-US" sz="1300" noProof="1">
                <a:latin typeface="HSE Sans" panose="02000000000000000000" pitchFamily="50" charset="0"/>
                <a:ea typeface="MiSans"/>
              </a:rPr>
              <a:t>ср</a:t>
            </a:r>
            <a:r>
              <a:rPr lang="ru-RU" sz="1300" noProof="1">
                <a:latin typeface="HSE Sans" panose="02000000000000000000" pitchFamily="50" charset="0"/>
                <a:ea typeface="MiSans"/>
              </a:rPr>
              <a:t>.</a:t>
            </a:r>
            <a:r>
              <a:rPr lang="en-US" sz="1300" noProof="1">
                <a:latin typeface="HSE Sans" panose="02000000000000000000" pitchFamily="50" charset="0"/>
                <a:ea typeface="MiSans"/>
              </a:rPr>
              <a:t> по выборке.</a:t>
            </a:r>
            <a:endParaRPr lang="en-US" sz="1300" noProof="1">
              <a:latin typeface="HSE Sans" panose="02000000000000000000" pitchFamily="50" charset="0"/>
            </a:endParaRPr>
          </a:p>
        </p:txBody>
      </p:sp>
      <p:sp>
        <p:nvSpPr>
          <p:cNvPr id="16" name="TextBox 15">
            <a:extLst>
              <a:ext uri="{FF2B5EF4-FFF2-40B4-BE49-F238E27FC236}">
                <a16:creationId xmlns:a16="http://schemas.microsoft.com/office/drawing/2014/main" id="{F7ABCB5A-07E8-2891-D4EB-4C63617CEB55}"/>
              </a:ext>
            </a:extLst>
          </p:cNvPr>
          <p:cNvSpPr txBox="1"/>
          <p:nvPr/>
        </p:nvSpPr>
        <p:spPr>
          <a:xfrm>
            <a:off x="8580011" y="4232148"/>
            <a:ext cx="2811079" cy="1038746"/>
          </a:xfrm>
          <a:prstGeom prst="rect">
            <a:avLst/>
          </a:prstGeom>
          <a:noFill/>
        </p:spPr>
        <p:txBody>
          <a:bodyPr wrap="square">
            <a:spAutoFit/>
          </a:bodyPr>
          <a:lstStyle/>
          <a:p>
            <a:pPr>
              <a:lnSpc>
                <a:spcPct val="120000"/>
              </a:lnSpc>
            </a:pPr>
            <a:r>
              <a:rPr lang="en-US" sz="1300" b="1" noProof="1">
                <a:latin typeface="HSE Sans" panose="02000000000000000000" pitchFamily="50" charset="0"/>
                <a:ea typeface="MiSans"/>
              </a:rPr>
              <a:t>Доля «часто хочу бросить» внутри подгруппы</a:t>
            </a:r>
            <a:r>
              <a:rPr lang="en-US" sz="1300" noProof="1">
                <a:latin typeface="HSE Sans" panose="02000000000000000000" pitchFamily="50" charset="0"/>
                <a:ea typeface="MiSans"/>
              </a:rPr>
              <a:t>, </a:t>
            </a:r>
            <a:r>
              <a:rPr lang="en-US" sz="1300" b="1" noProof="1">
                <a:latin typeface="HSE Sans" panose="02000000000000000000" pitchFamily="50" charset="0"/>
                <a:ea typeface="MiSans"/>
              </a:rPr>
              <a:t>95% ДИ; </a:t>
            </a:r>
          </a:p>
          <a:p>
            <a:pPr>
              <a:lnSpc>
                <a:spcPct val="120000"/>
              </a:lnSpc>
            </a:pPr>
            <a:endParaRPr lang="en-US" sz="1300" noProof="1">
              <a:latin typeface="HSE Sans" panose="02000000000000000000" pitchFamily="50" charset="0"/>
              <a:ea typeface="MiSans"/>
            </a:endParaRPr>
          </a:p>
          <a:p>
            <a:pPr>
              <a:lnSpc>
                <a:spcPct val="120000"/>
              </a:lnSpc>
            </a:pPr>
            <a:r>
              <a:rPr lang="ru-RU" sz="1300" noProof="1">
                <a:latin typeface="HSE Sans" panose="02000000000000000000" pitchFamily="50" charset="0"/>
                <a:ea typeface="MiSans"/>
              </a:rPr>
              <a:t>Однако п</a:t>
            </a:r>
            <a:r>
              <a:rPr lang="en-US" sz="1300" noProof="1">
                <a:latin typeface="HSE Sans" panose="02000000000000000000" pitchFamily="50" charset="0"/>
                <a:ea typeface="MiSans"/>
              </a:rPr>
              <a:t>одгруппы пересекаются</a:t>
            </a:r>
            <a:r>
              <a:rPr lang="ru-RU" sz="1300" noProof="1">
                <a:latin typeface="HSE Sans" panose="02000000000000000000" pitchFamily="50" charset="0"/>
                <a:ea typeface="MiSans"/>
              </a:rPr>
              <a:t>!</a:t>
            </a:r>
            <a:endParaRPr lang="en-US" sz="1300" noProof="1">
              <a:latin typeface="HSE Sans" panose="02000000000000000000" pitchFamily="50" charset="0"/>
            </a:endParaRPr>
          </a:p>
        </p:txBody>
      </p:sp>
    </p:spTree>
    <p:extLst>
      <p:ext uri="{BB962C8B-B14F-4D97-AF65-F5344CB8AC3E}">
        <p14:creationId xmlns:p14="http://schemas.microsoft.com/office/powerpoint/2010/main" val="544426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8" y="1369967"/>
            <a:ext cx="10260442" cy="964670"/>
          </a:xfrm>
        </p:spPr>
        <p:txBody>
          <a:bodyPr>
            <a:normAutofit/>
          </a:bodyPr>
          <a:lstStyle/>
          <a:p>
            <a:r>
              <a:rPr lang="ru-RU" sz="2600" dirty="0"/>
              <a:t>Главный результат: среда и руководство объясняют в 10 раз больше, чем обстоятельства</a:t>
            </a: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ДЕКОМПОЗИЦИЯ</a:t>
            </a:r>
          </a:p>
        </p:txBody>
      </p:sp>
      <p:sp>
        <p:nvSpPr>
          <p:cNvPr id="7" name="big-num">
            <a:extLst>
              <a:ext uri="{FF2B5EF4-FFF2-40B4-BE49-F238E27FC236}">
                <a16:creationId xmlns:a16="http://schemas.microsoft.com/office/drawing/2014/main" id="{B7E3360B-37D7-A5AD-010E-AF7DB96D66C4}"/>
              </a:ext>
            </a:extLst>
          </p:cNvPr>
          <p:cNvSpPr txBox="1"/>
          <p:nvPr/>
        </p:nvSpPr>
        <p:spPr>
          <a:xfrm>
            <a:off x="762000" y="2540000"/>
            <a:ext cx="4064000" cy="1219200"/>
          </a:xfrm>
          <a:prstGeom prst="rect">
            <a:avLst/>
          </a:prstGeom>
          <a:noFill/>
          <a:ln>
            <a:noFill/>
          </a:ln>
        </p:spPr>
        <p:txBody>
          <a:bodyPr wrap="none" lIns="0" tIns="0" rIns="0" bIns="0" rtlCol="0"/>
          <a:lstStyle/>
          <a:p>
            <a:pPr>
              <a:lnSpc>
                <a:spcPct val="120000"/>
              </a:lnSpc>
            </a:pPr>
            <a:r>
              <a:rPr lang="en-US" sz="6400" b="1" noProof="1">
                <a:latin typeface="HSE Sans" panose="02000000000000000000" pitchFamily="50" charset="0"/>
                <a:ea typeface="MiSans"/>
              </a:rPr>
              <a:t>63%</a:t>
            </a:r>
            <a:endParaRPr lang="en-US" sz="6400" noProof="1">
              <a:latin typeface="HSE Sans" panose="02000000000000000000" pitchFamily="50" charset="0"/>
            </a:endParaRPr>
          </a:p>
        </p:txBody>
      </p:sp>
      <p:sp>
        <p:nvSpPr>
          <p:cNvPr id="9" name="big-num-cap">
            <a:extLst>
              <a:ext uri="{FF2B5EF4-FFF2-40B4-BE49-F238E27FC236}">
                <a16:creationId xmlns:a16="http://schemas.microsoft.com/office/drawing/2014/main" id="{E82DE071-E52F-53A7-5151-B8EF607B3260}"/>
              </a:ext>
            </a:extLst>
          </p:cNvPr>
          <p:cNvSpPr txBox="1"/>
          <p:nvPr/>
        </p:nvSpPr>
        <p:spPr>
          <a:xfrm>
            <a:off x="762000" y="3911600"/>
            <a:ext cx="4064000" cy="609600"/>
          </a:xfrm>
          <a:prstGeom prst="rect">
            <a:avLst/>
          </a:prstGeom>
          <a:noFill/>
          <a:ln>
            <a:noFill/>
          </a:ln>
        </p:spPr>
        <p:txBody>
          <a:bodyPr wrap="square" lIns="0" tIns="0" rIns="0" bIns="0" rtlCol="0"/>
          <a:lstStyle/>
          <a:p>
            <a:pPr>
              <a:lnSpc>
                <a:spcPct val="140000"/>
              </a:lnSpc>
            </a:pPr>
            <a:r>
              <a:rPr lang="en-US" sz="1300" b="1" noProof="1">
                <a:latin typeface="HSE Sans" panose="02000000000000000000" pitchFamily="50" charset="0"/>
                <a:ea typeface="MiSans"/>
              </a:rPr>
              <a:t>полного Tjur R² = 0,277 — уникальный вклад среды и руководства</a:t>
            </a:r>
            <a:endParaRPr lang="en-US" sz="1300" b="1" noProof="1">
              <a:latin typeface="HSE Sans" panose="02000000000000000000" pitchFamily="50" charset="0"/>
            </a:endParaRPr>
          </a:p>
        </p:txBody>
      </p:sp>
      <p:sp>
        <p:nvSpPr>
          <p:cNvPr id="10" name="g2-num">
            <a:extLst>
              <a:ext uri="{FF2B5EF4-FFF2-40B4-BE49-F238E27FC236}">
                <a16:creationId xmlns:a16="http://schemas.microsoft.com/office/drawing/2014/main" id="{DF7915EC-D981-F9C8-75FA-CDFBA33844E5}"/>
              </a:ext>
            </a:extLst>
          </p:cNvPr>
          <p:cNvSpPr txBox="1"/>
          <p:nvPr/>
        </p:nvSpPr>
        <p:spPr>
          <a:xfrm>
            <a:off x="762000" y="5029200"/>
            <a:ext cx="4064000" cy="508000"/>
          </a:xfrm>
          <a:prstGeom prst="rect">
            <a:avLst/>
          </a:prstGeom>
          <a:noFill/>
          <a:ln>
            <a:noFill/>
          </a:ln>
        </p:spPr>
        <p:txBody>
          <a:bodyPr wrap="none" lIns="0" tIns="0" rIns="0" bIns="0" rtlCol="0"/>
          <a:lstStyle/>
          <a:p>
            <a:pPr>
              <a:lnSpc>
                <a:spcPct val="120000"/>
              </a:lnSpc>
            </a:pPr>
            <a:r>
              <a:rPr lang="en-US" sz="2800" b="1" noProof="1">
                <a:solidFill>
                  <a:srgbClr val="86868B"/>
                </a:solidFill>
                <a:latin typeface="HSE Sans" panose="02000000000000000000" pitchFamily="50" charset="0"/>
              </a:rPr>
              <a:t>против 6%</a:t>
            </a:r>
          </a:p>
        </p:txBody>
      </p:sp>
      <p:sp>
        <p:nvSpPr>
          <p:cNvPr id="64" name="bar-seg1">
            <a:extLst>
              <a:ext uri="{FF2B5EF4-FFF2-40B4-BE49-F238E27FC236}">
                <a16:creationId xmlns:a16="http://schemas.microsoft.com/office/drawing/2014/main" id="{A670A097-2EC4-DDD5-5DB1-AFE25044ED43}"/>
              </a:ext>
            </a:extLst>
          </p:cNvPr>
          <p:cNvSpPr/>
          <p:nvPr/>
        </p:nvSpPr>
        <p:spPr>
          <a:xfrm>
            <a:off x="5080000" y="2692400"/>
            <a:ext cx="3835400" cy="812800"/>
          </a:xfrm>
          <a:prstGeom prst="rect">
            <a:avLst/>
          </a:prstGeom>
          <a:solidFill>
            <a:srgbClr val="0A84FF"/>
          </a:solidFill>
          <a:ln>
            <a:noFill/>
          </a:ln>
        </p:spPr>
      </p:sp>
      <p:sp>
        <p:nvSpPr>
          <p:cNvPr id="65" name="bar-seg1-label">
            <a:extLst>
              <a:ext uri="{FF2B5EF4-FFF2-40B4-BE49-F238E27FC236}">
                <a16:creationId xmlns:a16="http://schemas.microsoft.com/office/drawing/2014/main" id="{69A352C7-58A1-900D-4A07-E73C6D935574}"/>
              </a:ext>
            </a:extLst>
          </p:cNvPr>
          <p:cNvSpPr txBox="1"/>
          <p:nvPr/>
        </p:nvSpPr>
        <p:spPr>
          <a:xfrm>
            <a:off x="5080000" y="2692400"/>
            <a:ext cx="3835400" cy="812800"/>
          </a:xfrm>
          <a:prstGeom prst="rect">
            <a:avLst/>
          </a:prstGeom>
          <a:solidFill>
            <a:schemeClr val="tx1"/>
          </a:solidFill>
          <a:ln>
            <a:noFill/>
          </a:ln>
        </p:spPr>
        <p:txBody>
          <a:bodyPr wrap="none" lIns="0" tIns="0" rIns="0" bIns="0" rtlCol="0" anchor="ctr"/>
          <a:lstStyle/>
          <a:p>
            <a:pPr algn="ctr">
              <a:lnSpc>
                <a:spcPct val="120000"/>
              </a:lnSpc>
            </a:pPr>
            <a:r>
              <a:rPr lang="en-US" sz="1500" b="1" noProof="1">
                <a:latin typeface="HSE Sans" panose="02000000000000000000" pitchFamily="50" charset="0"/>
                <a:ea typeface="MiSans"/>
              </a:rPr>
              <a:t>63%</a:t>
            </a:r>
            <a:endParaRPr lang="en-US" sz="1500" noProof="1">
              <a:latin typeface="HSE Sans" panose="02000000000000000000" pitchFamily="50" charset="0"/>
            </a:endParaRPr>
          </a:p>
        </p:txBody>
      </p:sp>
      <p:sp>
        <p:nvSpPr>
          <p:cNvPr id="66" name="bar-seg2">
            <a:extLst>
              <a:ext uri="{FF2B5EF4-FFF2-40B4-BE49-F238E27FC236}">
                <a16:creationId xmlns:a16="http://schemas.microsoft.com/office/drawing/2014/main" id="{A73681EA-9FCA-B133-923C-E928DFE242B9}"/>
              </a:ext>
            </a:extLst>
          </p:cNvPr>
          <p:cNvSpPr/>
          <p:nvPr/>
        </p:nvSpPr>
        <p:spPr>
          <a:xfrm>
            <a:off x="8915400" y="2692400"/>
            <a:ext cx="685800" cy="812800"/>
          </a:xfrm>
          <a:prstGeom prst="rect">
            <a:avLst/>
          </a:prstGeom>
          <a:solidFill>
            <a:srgbClr val="86868B"/>
          </a:solidFill>
          <a:ln>
            <a:noFill/>
          </a:ln>
        </p:spPr>
      </p:sp>
      <p:sp>
        <p:nvSpPr>
          <p:cNvPr id="67" name="bar-seg3">
            <a:extLst>
              <a:ext uri="{FF2B5EF4-FFF2-40B4-BE49-F238E27FC236}">
                <a16:creationId xmlns:a16="http://schemas.microsoft.com/office/drawing/2014/main" id="{4CBDE029-07A0-E35E-015B-0616EFF98737}"/>
              </a:ext>
            </a:extLst>
          </p:cNvPr>
          <p:cNvSpPr/>
          <p:nvPr/>
        </p:nvSpPr>
        <p:spPr>
          <a:xfrm>
            <a:off x="9601200" y="2692400"/>
            <a:ext cx="647700" cy="812800"/>
          </a:xfrm>
          <a:prstGeom prst="rect">
            <a:avLst/>
          </a:prstGeom>
          <a:solidFill>
            <a:srgbClr val="BCBCC2"/>
          </a:solidFill>
          <a:ln>
            <a:noFill/>
          </a:ln>
        </p:spPr>
      </p:sp>
      <p:sp>
        <p:nvSpPr>
          <p:cNvPr id="68" name="bar-seg4">
            <a:extLst>
              <a:ext uri="{FF2B5EF4-FFF2-40B4-BE49-F238E27FC236}">
                <a16:creationId xmlns:a16="http://schemas.microsoft.com/office/drawing/2014/main" id="{EC21D387-1775-A315-E285-DF67B270B2B6}"/>
              </a:ext>
            </a:extLst>
          </p:cNvPr>
          <p:cNvSpPr/>
          <p:nvPr/>
        </p:nvSpPr>
        <p:spPr>
          <a:xfrm>
            <a:off x="10248900" y="2692400"/>
            <a:ext cx="368300" cy="812800"/>
          </a:xfrm>
          <a:prstGeom prst="rect">
            <a:avLst/>
          </a:prstGeom>
          <a:solidFill>
            <a:srgbClr val="D1D1D6"/>
          </a:solidFill>
          <a:ln>
            <a:noFill/>
          </a:ln>
        </p:spPr>
      </p:sp>
      <p:sp>
        <p:nvSpPr>
          <p:cNvPr id="69" name="bar-seg5">
            <a:extLst>
              <a:ext uri="{FF2B5EF4-FFF2-40B4-BE49-F238E27FC236}">
                <a16:creationId xmlns:a16="http://schemas.microsoft.com/office/drawing/2014/main" id="{B3030A94-1EAC-6BF0-6058-296B7B5EE459}"/>
              </a:ext>
            </a:extLst>
          </p:cNvPr>
          <p:cNvSpPr/>
          <p:nvPr/>
        </p:nvSpPr>
        <p:spPr>
          <a:xfrm>
            <a:off x="10617200" y="2692400"/>
            <a:ext cx="558800" cy="812800"/>
          </a:xfrm>
          <a:prstGeom prst="rect">
            <a:avLst/>
          </a:prstGeom>
          <a:solidFill>
            <a:srgbClr val="E9E9EE"/>
          </a:solidFill>
          <a:ln>
            <a:noFill/>
          </a:ln>
        </p:spPr>
      </p:sp>
      <p:sp>
        <p:nvSpPr>
          <p:cNvPr id="70" name="leg1-sw">
            <a:extLst>
              <a:ext uri="{FF2B5EF4-FFF2-40B4-BE49-F238E27FC236}">
                <a16:creationId xmlns:a16="http://schemas.microsoft.com/office/drawing/2014/main" id="{6D2D7302-4F37-71B2-38BF-15FD38E8C504}"/>
              </a:ext>
            </a:extLst>
          </p:cNvPr>
          <p:cNvSpPr/>
          <p:nvPr/>
        </p:nvSpPr>
        <p:spPr>
          <a:xfrm>
            <a:off x="5080000" y="3733800"/>
            <a:ext cx="127000" cy="127000"/>
          </a:xfrm>
          <a:prstGeom prst="rect">
            <a:avLst/>
          </a:prstGeom>
          <a:solidFill>
            <a:schemeClr val="tx1"/>
          </a:solidFill>
          <a:ln>
            <a:noFill/>
          </a:ln>
        </p:spPr>
      </p:sp>
      <p:sp>
        <p:nvSpPr>
          <p:cNvPr id="71" name="leg1-tx">
            <a:extLst>
              <a:ext uri="{FF2B5EF4-FFF2-40B4-BE49-F238E27FC236}">
                <a16:creationId xmlns:a16="http://schemas.microsoft.com/office/drawing/2014/main" id="{E86F6965-CC9B-64B3-3CAD-0A9C0EED8B17}"/>
              </a:ext>
            </a:extLst>
          </p:cNvPr>
          <p:cNvSpPr txBox="1"/>
          <p:nvPr/>
        </p:nvSpPr>
        <p:spPr>
          <a:xfrm>
            <a:off x="5283200" y="3708400"/>
            <a:ext cx="1574800" cy="177800"/>
          </a:xfrm>
          <a:prstGeom prst="rect">
            <a:avLst/>
          </a:prstGeom>
          <a:noFill/>
          <a:ln>
            <a:noFill/>
          </a:ln>
        </p:spPr>
        <p:txBody>
          <a:bodyPr wrap="none" lIns="0" tIns="0" rIns="0" bIns="0" rtlCol="0"/>
          <a:lstStyle/>
          <a:p>
            <a:pPr>
              <a:lnSpc>
                <a:spcPct val="120000"/>
              </a:lnSpc>
            </a:pPr>
            <a:r>
              <a:rPr lang="en-US" sz="1050" noProof="1">
                <a:latin typeface="HSE Sans" panose="02000000000000000000" pitchFamily="50" charset="0"/>
                <a:ea typeface="MiSans"/>
              </a:rPr>
              <a:t>G1 уникальная · 63%</a:t>
            </a:r>
            <a:endParaRPr lang="en-US" sz="1050" noProof="1">
              <a:latin typeface="HSE Sans" panose="02000000000000000000" pitchFamily="50" charset="0"/>
            </a:endParaRPr>
          </a:p>
        </p:txBody>
      </p:sp>
      <p:sp>
        <p:nvSpPr>
          <p:cNvPr id="72" name="leg2-sw">
            <a:extLst>
              <a:ext uri="{FF2B5EF4-FFF2-40B4-BE49-F238E27FC236}">
                <a16:creationId xmlns:a16="http://schemas.microsoft.com/office/drawing/2014/main" id="{49C0BDD5-2380-D08D-FC15-CF98A0E3A3CE}"/>
              </a:ext>
            </a:extLst>
          </p:cNvPr>
          <p:cNvSpPr/>
          <p:nvPr/>
        </p:nvSpPr>
        <p:spPr>
          <a:xfrm>
            <a:off x="6959600" y="3733800"/>
            <a:ext cx="127000" cy="127000"/>
          </a:xfrm>
          <a:prstGeom prst="rect">
            <a:avLst/>
          </a:prstGeom>
          <a:solidFill>
            <a:srgbClr val="86868B"/>
          </a:solidFill>
          <a:ln>
            <a:noFill/>
          </a:ln>
        </p:spPr>
      </p:sp>
      <p:sp>
        <p:nvSpPr>
          <p:cNvPr id="73" name="leg2-tx">
            <a:extLst>
              <a:ext uri="{FF2B5EF4-FFF2-40B4-BE49-F238E27FC236}">
                <a16:creationId xmlns:a16="http://schemas.microsoft.com/office/drawing/2014/main" id="{EF18EEB5-600D-DDA6-B867-86B6B31DDC83}"/>
              </a:ext>
            </a:extLst>
          </p:cNvPr>
          <p:cNvSpPr txBox="1"/>
          <p:nvPr/>
        </p:nvSpPr>
        <p:spPr>
          <a:xfrm>
            <a:off x="7162800" y="3708400"/>
            <a:ext cx="1778000" cy="177800"/>
          </a:xfrm>
          <a:prstGeom prst="rect">
            <a:avLst/>
          </a:prstGeom>
          <a:noFill/>
          <a:ln>
            <a:noFill/>
          </a:ln>
        </p:spPr>
        <p:txBody>
          <a:bodyPr wrap="none" lIns="0" tIns="0" rIns="0" bIns="0" rtlCol="0"/>
          <a:lstStyle/>
          <a:p>
            <a:pPr>
              <a:lnSpc>
                <a:spcPct val="120000"/>
              </a:lnSpc>
            </a:pPr>
            <a:r>
              <a:rPr lang="en-US" sz="1050" noProof="1">
                <a:latin typeface="HSE Sans" panose="02000000000000000000" pitchFamily="50" charset="0"/>
                <a:ea typeface="MiSans"/>
              </a:rPr>
              <a:t>общая G1 ∩ G2 · 11,3%</a:t>
            </a:r>
            <a:endParaRPr lang="en-US" sz="1050" noProof="1">
              <a:latin typeface="HSE Sans" panose="02000000000000000000" pitchFamily="50" charset="0"/>
            </a:endParaRPr>
          </a:p>
        </p:txBody>
      </p:sp>
      <p:sp>
        <p:nvSpPr>
          <p:cNvPr id="74" name="leg3-sw">
            <a:extLst>
              <a:ext uri="{FF2B5EF4-FFF2-40B4-BE49-F238E27FC236}">
                <a16:creationId xmlns:a16="http://schemas.microsoft.com/office/drawing/2014/main" id="{8CE05714-EA45-F3B6-E6A6-61829A039294}"/>
              </a:ext>
            </a:extLst>
          </p:cNvPr>
          <p:cNvSpPr/>
          <p:nvPr/>
        </p:nvSpPr>
        <p:spPr>
          <a:xfrm>
            <a:off x="9042400" y="3733800"/>
            <a:ext cx="127000" cy="127000"/>
          </a:xfrm>
          <a:prstGeom prst="rect">
            <a:avLst/>
          </a:prstGeom>
          <a:solidFill>
            <a:srgbClr val="BCBCC2"/>
          </a:solidFill>
          <a:ln>
            <a:noFill/>
          </a:ln>
        </p:spPr>
      </p:sp>
      <p:sp>
        <p:nvSpPr>
          <p:cNvPr id="75" name="leg3-tx">
            <a:extLst>
              <a:ext uri="{FF2B5EF4-FFF2-40B4-BE49-F238E27FC236}">
                <a16:creationId xmlns:a16="http://schemas.microsoft.com/office/drawing/2014/main" id="{4B18E0D7-9499-2AA5-ACBF-3FC3BA8AA805}"/>
              </a:ext>
            </a:extLst>
          </p:cNvPr>
          <p:cNvSpPr txBox="1"/>
          <p:nvPr/>
        </p:nvSpPr>
        <p:spPr>
          <a:xfrm>
            <a:off x="9245600" y="3708400"/>
            <a:ext cx="1930400" cy="177800"/>
          </a:xfrm>
          <a:prstGeom prst="rect">
            <a:avLst/>
          </a:prstGeom>
          <a:noFill/>
          <a:ln>
            <a:noFill/>
          </a:ln>
        </p:spPr>
        <p:txBody>
          <a:bodyPr wrap="none" lIns="0" tIns="0" rIns="0" bIns="0" rtlCol="0"/>
          <a:lstStyle/>
          <a:p>
            <a:pPr>
              <a:lnSpc>
                <a:spcPct val="120000"/>
              </a:lnSpc>
            </a:pPr>
            <a:r>
              <a:rPr lang="en-US" sz="1050" noProof="1">
                <a:latin typeface="HSE Sans" panose="02000000000000000000" pitchFamily="50" charset="0"/>
                <a:ea typeface="MiSans"/>
              </a:rPr>
              <a:t>контроли (D+M) · 10,6%</a:t>
            </a:r>
            <a:endParaRPr lang="en-US" sz="1050" noProof="1">
              <a:latin typeface="HSE Sans" panose="02000000000000000000" pitchFamily="50" charset="0"/>
            </a:endParaRPr>
          </a:p>
        </p:txBody>
      </p:sp>
      <p:sp>
        <p:nvSpPr>
          <p:cNvPr id="76" name="leg4-sw">
            <a:extLst>
              <a:ext uri="{FF2B5EF4-FFF2-40B4-BE49-F238E27FC236}">
                <a16:creationId xmlns:a16="http://schemas.microsoft.com/office/drawing/2014/main" id="{2F0377FB-5531-BCF5-2F2A-926ED16465A4}"/>
              </a:ext>
            </a:extLst>
          </p:cNvPr>
          <p:cNvSpPr/>
          <p:nvPr/>
        </p:nvSpPr>
        <p:spPr>
          <a:xfrm>
            <a:off x="5080000" y="4038600"/>
            <a:ext cx="127000" cy="127000"/>
          </a:xfrm>
          <a:prstGeom prst="rect">
            <a:avLst/>
          </a:prstGeom>
          <a:solidFill>
            <a:srgbClr val="D1D1D6"/>
          </a:solidFill>
          <a:ln>
            <a:noFill/>
          </a:ln>
        </p:spPr>
      </p:sp>
      <p:sp>
        <p:nvSpPr>
          <p:cNvPr id="77" name="leg4-tx">
            <a:extLst>
              <a:ext uri="{FF2B5EF4-FFF2-40B4-BE49-F238E27FC236}">
                <a16:creationId xmlns:a16="http://schemas.microsoft.com/office/drawing/2014/main" id="{4632115B-F8EC-31E0-FC48-0A1AE86D658A}"/>
              </a:ext>
            </a:extLst>
          </p:cNvPr>
          <p:cNvSpPr txBox="1"/>
          <p:nvPr/>
        </p:nvSpPr>
        <p:spPr>
          <a:xfrm>
            <a:off x="5283200" y="4013200"/>
            <a:ext cx="1574800" cy="177800"/>
          </a:xfrm>
          <a:prstGeom prst="rect">
            <a:avLst/>
          </a:prstGeom>
          <a:noFill/>
          <a:ln>
            <a:noFill/>
          </a:ln>
        </p:spPr>
        <p:txBody>
          <a:bodyPr wrap="none" lIns="0" tIns="0" rIns="0" bIns="0" rtlCol="0"/>
          <a:lstStyle/>
          <a:p>
            <a:pPr>
              <a:lnSpc>
                <a:spcPct val="120000"/>
              </a:lnSpc>
            </a:pPr>
            <a:r>
              <a:rPr lang="en-US" sz="1050" noProof="1">
                <a:latin typeface="HSE Sans" panose="02000000000000000000" pitchFamily="50" charset="0"/>
                <a:ea typeface="MiSans"/>
              </a:rPr>
              <a:t>G2 уникальная · 6,0%</a:t>
            </a:r>
            <a:endParaRPr lang="en-US" sz="1050" noProof="1">
              <a:latin typeface="HSE Sans" panose="02000000000000000000" pitchFamily="50" charset="0"/>
            </a:endParaRPr>
          </a:p>
        </p:txBody>
      </p:sp>
      <p:sp>
        <p:nvSpPr>
          <p:cNvPr id="78" name="leg5-sw">
            <a:extLst>
              <a:ext uri="{FF2B5EF4-FFF2-40B4-BE49-F238E27FC236}">
                <a16:creationId xmlns:a16="http://schemas.microsoft.com/office/drawing/2014/main" id="{48F6DAFF-808B-1ABC-63C6-159787EBA32A}"/>
              </a:ext>
            </a:extLst>
          </p:cNvPr>
          <p:cNvSpPr/>
          <p:nvPr/>
        </p:nvSpPr>
        <p:spPr>
          <a:xfrm>
            <a:off x="6959600" y="4038600"/>
            <a:ext cx="127000" cy="127000"/>
          </a:xfrm>
          <a:prstGeom prst="rect">
            <a:avLst/>
          </a:prstGeom>
          <a:solidFill>
            <a:srgbClr val="E9E9EE"/>
          </a:solidFill>
          <a:ln>
            <a:noFill/>
          </a:ln>
        </p:spPr>
      </p:sp>
      <p:sp>
        <p:nvSpPr>
          <p:cNvPr id="79" name="leg5-tx">
            <a:extLst>
              <a:ext uri="{FF2B5EF4-FFF2-40B4-BE49-F238E27FC236}">
                <a16:creationId xmlns:a16="http://schemas.microsoft.com/office/drawing/2014/main" id="{38774156-A2A2-E7DC-5B65-63E6BD9AD74F}"/>
              </a:ext>
            </a:extLst>
          </p:cNvPr>
          <p:cNvSpPr txBox="1"/>
          <p:nvPr/>
        </p:nvSpPr>
        <p:spPr>
          <a:xfrm>
            <a:off x="7162800" y="4013200"/>
            <a:ext cx="1574800" cy="177800"/>
          </a:xfrm>
          <a:prstGeom prst="rect">
            <a:avLst/>
          </a:prstGeom>
          <a:noFill/>
          <a:ln>
            <a:noFill/>
          </a:ln>
        </p:spPr>
        <p:txBody>
          <a:bodyPr wrap="none" lIns="0" tIns="0" rIns="0" bIns="0" rtlCol="0"/>
          <a:lstStyle/>
          <a:p>
            <a:pPr>
              <a:lnSpc>
                <a:spcPct val="120000"/>
              </a:lnSpc>
            </a:pPr>
            <a:r>
              <a:rPr lang="en-US" sz="1050" noProof="1">
                <a:latin typeface="HSE Sans" panose="02000000000000000000" pitchFamily="50" charset="0"/>
                <a:ea typeface="MiSans"/>
              </a:rPr>
              <a:t>прочие общие · 9,0%</a:t>
            </a:r>
            <a:endParaRPr lang="en-US" sz="1050" noProof="1">
              <a:latin typeface="HSE Sans" panose="02000000000000000000" pitchFamily="50" charset="0"/>
            </a:endParaRPr>
          </a:p>
        </p:txBody>
      </p:sp>
      <p:sp>
        <p:nvSpPr>
          <p:cNvPr id="80" name="decomp-note">
            <a:extLst>
              <a:ext uri="{FF2B5EF4-FFF2-40B4-BE49-F238E27FC236}">
                <a16:creationId xmlns:a16="http://schemas.microsoft.com/office/drawing/2014/main" id="{E50A161F-6F23-0087-3401-CB2115B11D42}"/>
              </a:ext>
            </a:extLst>
          </p:cNvPr>
          <p:cNvSpPr txBox="1"/>
          <p:nvPr/>
        </p:nvSpPr>
        <p:spPr>
          <a:xfrm>
            <a:off x="5080000" y="4470400"/>
            <a:ext cx="6096000" cy="1524000"/>
          </a:xfrm>
          <a:prstGeom prst="rect">
            <a:avLst/>
          </a:prstGeom>
          <a:noFill/>
          <a:ln>
            <a:noFill/>
          </a:ln>
        </p:spPr>
        <p:txBody>
          <a:bodyPr wrap="square" lIns="0" tIns="0" rIns="0" bIns="0" rtlCol="0"/>
          <a:lstStyle/>
          <a:p>
            <a:pPr>
              <a:lnSpc>
                <a:spcPct val="150000"/>
              </a:lnSpc>
            </a:pPr>
            <a:r>
              <a:rPr lang="en-US" sz="1300" noProof="1">
                <a:latin typeface="HSE Sans" panose="02000000000000000000" pitchFamily="50" charset="0"/>
                <a:ea typeface="MiSans"/>
              </a:rPr>
              <a:t>Декомпозиция инвариантна к порядку введения блоков. Независимый LMG-рейтинг </a:t>
            </a:r>
            <a:r>
              <a:rPr lang="en-US" sz="1300" b="1" noProof="1">
                <a:latin typeface="HSE Sans" panose="02000000000000000000" pitchFamily="50" charset="0"/>
                <a:ea typeface="MiSans"/>
              </a:rPr>
              <a:t>подтверждает</a:t>
            </a:r>
            <a:r>
              <a:rPr lang="en-US" sz="1300" noProof="1">
                <a:latin typeface="HSE Sans" panose="02000000000000000000" pitchFamily="50" charset="0"/>
                <a:ea typeface="MiSans"/>
              </a:rPr>
              <a:t>: среда 50% + руководство 24% против 10% у обстоятельств. </a:t>
            </a:r>
            <a:r>
              <a:rPr lang="en-US" sz="1300" b="1" noProof="1">
                <a:latin typeface="HSE Sans" panose="02000000000000000000" pitchFamily="50" charset="0"/>
                <a:ea typeface="MiSans"/>
              </a:rPr>
              <a:t>Неразделимая часть двух </a:t>
            </a:r>
            <a:r>
              <a:rPr lang="ru-RU" sz="1300" b="1" noProof="1">
                <a:latin typeface="HSE Sans" panose="02000000000000000000" pitchFamily="50" charset="0"/>
                <a:ea typeface="MiSans"/>
              </a:rPr>
              <a:t>блоков</a:t>
            </a:r>
            <a:r>
              <a:rPr lang="en-US" sz="1300" b="1" noProof="1">
                <a:latin typeface="HSE Sans" panose="02000000000000000000" pitchFamily="50" charset="0"/>
                <a:ea typeface="MiSans"/>
              </a:rPr>
              <a:t> — лишь 11,3%.</a:t>
            </a:r>
            <a:endParaRPr lang="en-US" sz="1300" b="1" noProof="1">
              <a:latin typeface="HSE Sans" panose="02000000000000000000" pitchFamily="50" charset="0"/>
            </a:endParaRPr>
          </a:p>
        </p:txBody>
      </p:sp>
      <p:sp>
        <p:nvSpPr>
          <p:cNvPr id="98" name="g2-cap">
            <a:extLst>
              <a:ext uri="{FF2B5EF4-FFF2-40B4-BE49-F238E27FC236}">
                <a16:creationId xmlns:a16="http://schemas.microsoft.com/office/drawing/2014/main" id="{819EF404-8C83-2FCB-23B1-528C0B64B72C}"/>
              </a:ext>
            </a:extLst>
          </p:cNvPr>
          <p:cNvSpPr txBox="1"/>
          <p:nvPr/>
        </p:nvSpPr>
        <p:spPr>
          <a:xfrm>
            <a:off x="762000" y="5588000"/>
            <a:ext cx="4064000" cy="431800"/>
          </a:xfrm>
          <a:prstGeom prst="rect">
            <a:avLst/>
          </a:prstGeom>
          <a:noFill/>
          <a:ln>
            <a:noFill/>
          </a:ln>
        </p:spPr>
        <p:txBody>
          <a:bodyPr wrap="square" lIns="0" tIns="0" rIns="0" bIns="0" rtlCol="0"/>
          <a:lstStyle/>
          <a:p>
            <a:pPr>
              <a:lnSpc>
                <a:spcPct val="120000"/>
              </a:lnSpc>
            </a:pPr>
            <a:r>
              <a:rPr lang="en-US" sz="1300" noProof="1">
                <a:solidFill>
                  <a:srgbClr val="86868B"/>
                </a:solidFill>
                <a:latin typeface="HSE Sans" panose="02000000000000000000" pitchFamily="50" charset="0"/>
              </a:rPr>
              <a:t>уникальный вклад жизненных обстоятельств</a:t>
            </a:r>
          </a:p>
        </p:txBody>
      </p:sp>
      <p:sp>
        <p:nvSpPr>
          <p:cNvPr id="99" name="footer-left">
            <a:extLst>
              <a:ext uri="{FF2B5EF4-FFF2-40B4-BE49-F238E27FC236}">
                <a16:creationId xmlns:a16="http://schemas.microsoft.com/office/drawing/2014/main" id="{6E5C6B9B-517D-9B06-A1AE-22D8500C78AA}"/>
              </a:ext>
            </a:extLst>
          </p:cNvPr>
          <p:cNvSpPr txBox="1"/>
          <p:nvPr/>
        </p:nvSpPr>
        <p:spPr>
          <a:xfrm>
            <a:off x="781050" y="6216668"/>
            <a:ext cx="9144000" cy="177800"/>
          </a:xfrm>
          <a:prstGeom prst="rect">
            <a:avLst/>
          </a:prstGeom>
          <a:noFill/>
          <a:ln>
            <a:noFill/>
          </a:ln>
        </p:spPr>
        <p:txBody>
          <a:bodyPr wrap="none" lIns="0" tIns="0" rIns="0" bIns="0" rtlCol="0"/>
          <a:lstStyle/>
          <a:p>
            <a:pPr>
              <a:lnSpc>
                <a:spcPct val="120000"/>
              </a:lnSpc>
            </a:pPr>
            <a:r>
              <a:rPr lang="en-US" sz="1300" b="1" noProof="1">
                <a:latin typeface="HSE Sans" panose="02000000000000000000" pitchFamily="50" charset="0"/>
                <a:ea typeface="MiSans"/>
              </a:rPr>
              <a:t>Commonality-декомпозиция</a:t>
            </a:r>
            <a:r>
              <a:rPr lang="en-US" sz="1300" noProof="1">
                <a:latin typeface="HSE Sans" panose="02000000000000000000" pitchFamily="50" charset="0"/>
                <a:ea typeface="MiSans"/>
              </a:rPr>
              <a:t> Tjur R², 15 подмоделей × 20 импутаций, пулинг по Рубину; n = 4569</a:t>
            </a:r>
            <a:endParaRPr lang="en-US" sz="1300" noProof="1">
              <a:latin typeface="HSE Sans" panose="02000000000000000000" pitchFamily="50" charset="0"/>
            </a:endParaRPr>
          </a:p>
        </p:txBody>
      </p:sp>
    </p:spTree>
    <p:extLst>
      <p:ext uri="{BB962C8B-B14F-4D97-AF65-F5344CB8AC3E}">
        <p14:creationId xmlns:p14="http://schemas.microsoft.com/office/powerpoint/2010/main" val="3935284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8" y="1369966"/>
            <a:ext cx="10357719" cy="945214"/>
          </a:xfrm>
        </p:spPr>
        <p:txBody>
          <a:bodyPr>
            <a:normAutofit/>
          </a:bodyPr>
          <a:lstStyle/>
          <a:p>
            <a:r>
              <a:rPr lang="ru-RU" sz="2600" dirty="0"/>
              <a:t>Профили риска: среда — 82,9%, обстоятельства — 18,2%</a:t>
            </a: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ПРОФИЛИ</a:t>
            </a:r>
          </a:p>
        </p:txBody>
      </p:sp>
      <p:pic>
        <p:nvPicPr>
          <p:cNvPr id="6" name="Рисунок 5" descr="Изображение выглядит как текст, снимок экрана, диаграмма, Шрифт&#10;&#10;Контент, сгенерированный ИИ, может содержать ошибки.">
            <a:extLst>
              <a:ext uri="{FF2B5EF4-FFF2-40B4-BE49-F238E27FC236}">
                <a16:creationId xmlns:a16="http://schemas.microsoft.com/office/drawing/2014/main" id="{68569A76-D1AB-FBFF-76B9-F3E83FE93FD4}"/>
              </a:ext>
            </a:extLst>
          </p:cNvPr>
          <p:cNvPicPr>
            <a:picLocks noChangeAspect="1"/>
          </p:cNvPicPr>
          <p:nvPr/>
        </p:nvPicPr>
        <p:blipFill>
          <a:blip r:embed="rId2"/>
          <a:stretch>
            <a:fillRect/>
          </a:stretch>
        </p:blipFill>
        <p:spPr>
          <a:xfrm>
            <a:off x="166302" y="2419023"/>
            <a:ext cx="8513081" cy="4091948"/>
          </a:xfrm>
          <a:prstGeom prst="rect">
            <a:avLst/>
          </a:prstGeom>
        </p:spPr>
      </p:pic>
      <p:sp>
        <p:nvSpPr>
          <p:cNvPr id="2" name="side-body">
            <a:extLst>
              <a:ext uri="{FF2B5EF4-FFF2-40B4-BE49-F238E27FC236}">
                <a16:creationId xmlns:a16="http://schemas.microsoft.com/office/drawing/2014/main" id="{5125C2CE-DE3C-FC50-7828-5DB588979E0C}"/>
              </a:ext>
            </a:extLst>
          </p:cNvPr>
          <p:cNvSpPr txBox="1"/>
          <p:nvPr/>
        </p:nvSpPr>
        <p:spPr>
          <a:xfrm>
            <a:off x="8432800" y="2559997"/>
            <a:ext cx="2997200" cy="2644301"/>
          </a:xfrm>
          <a:prstGeom prst="rect">
            <a:avLst/>
          </a:prstGeom>
          <a:noFill/>
          <a:ln>
            <a:noFill/>
          </a:ln>
        </p:spPr>
        <p:txBody>
          <a:bodyPr wrap="square" lIns="0" tIns="0" rIns="0" bIns="0" rtlCol="0"/>
          <a:lstStyle/>
          <a:p>
            <a:pPr>
              <a:lnSpc>
                <a:spcPct val="120000"/>
              </a:lnSpc>
              <a:spcAft>
                <a:spcPts val="1200"/>
              </a:spcAft>
            </a:pPr>
            <a:r>
              <a:rPr lang="ru-RU" sz="1300" b="1" noProof="1">
                <a:latin typeface="HSE Sans" panose="02000000000000000000" pitchFamily="50" charset="0"/>
                <a:ea typeface="MiSans"/>
              </a:rPr>
              <a:t>Как читать профили</a:t>
            </a:r>
            <a:r>
              <a:rPr lang="en-US" sz="1300" b="1" noProof="1">
                <a:latin typeface="HSE Sans" panose="02000000000000000000" pitchFamily="50" charset="0"/>
                <a:ea typeface="MiSans"/>
              </a:rPr>
              <a:t>:</a:t>
            </a:r>
          </a:p>
          <a:p>
            <a:pPr>
              <a:lnSpc>
                <a:spcPct val="120000"/>
              </a:lnSpc>
              <a:spcBef>
                <a:spcPts val="800"/>
              </a:spcBef>
              <a:spcAft>
                <a:spcPts val="600"/>
              </a:spcAft>
            </a:pPr>
            <a:r>
              <a:rPr lang="en-US" sz="1300" b="1" noProof="1">
                <a:latin typeface="HSE Sans" panose="02000000000000000000" pitchFamily="50" charset="0"/>
                <a:ea typeface="MiSans"/>
              </a:rPr>
              <a:t>У разочарованного </a:t>
            </a:r>
            <a:r>
              <a:rPr lang="en-US" sz="1300" noProof="1">
                <a:latin typeface="HSE Sans" panose="02000000000000000000" pitchFamily="50" charset="0"/>
                <a:ea typeface="MiSans"/>
              </a:rPr>
              <a:t>— минимальные принадлежность, качество образования и удовлетворённость руководителем.</a:t>
            </a:r>
            <a:endParaRPr lang="en-US" sz="1300" noProof="1">
              <a:latin typeface="HSE Sans" panose="02000000000000000000" pitchFamily="50" charset="0"/>
            </a:endParaRPr>
          </a:p>
          <a:p>
            <a:pPr>
              <a:lnSpc>
                <a:spcPct val="120000"/>
              </a:lnSpc>
              <a:spcBef>
                <a:spcPts val="800"/>
              </a:spcBef>
              <a:spcAft>
                <a:spcPts val="600"/>
              </a:spcAft>
            </a:pPr>
            <a:r>
              <a:rPr lang="en-US" sz="1300" b="1" noProof="1">
                <a:latin typeface="HSE Sans" panose="02000000000000000000" pitchFamily="50" charset="0"/>
                <a:ea typeface="MiSans"/>
              </a:rPr>
              <a:t>У стеснённого </a:t>
            </a:r>
            <a:r>
              <a:rPr lang="en-US" sz="1300" noProof="1">
                <a:latin typeface="HSE Sans" panose="02000000000000000000" pitchFamily="50" charset="0"/>
                <a:ea typeface="MiSans"/>
              </a:rPr>
              <a:t>— работа без связи с диссертацией, низкий доход, трудности.</a:t>
            </a:r>
            <a:endParaRPr lang="en-US" sz="1300" noProof="1">
              <a:latin typeface="HSE Sans" panose="02000000000000000000" pitchFamily="50" charset="0"/>
            </a:endParaRPr>
          </a:p>
          <a:p>
            <a:pPr>
              <a:lnSpc>
                <a:spcPct val="120000"/>
              </a:lnSpc>
              <a:spcBef>
                <a:spcPts val="800"/>
              </a:spcBef>
              <a:spcAft>
                <a:spcPts val="600"/>
              </a:spcAft>
            </a:pPr>
            <a:r>
              <a:rPr lang="en-US" sz="1300" b="1" noProof="1">
                <a:latin typeface="HSE Sans" panose="02000000000000000000" pitchFamily="50" charset="0"/>
                <a:ea typeface="MiSans"/>
              </a:rPr>
              <a:t>Медианный аспирант</a:t>
            </a:r>
            <a:r>
              <a:rPr lang="en-US" sz="1300" noProof="1">
                <a:latin typeface="HSE Sans" panose="02000000000000000000" pitchFamily="50" charset="0"/>
                <a:ea typeface="MiSans"/>
              </a:rPr>
              <a:t> — все факторы в медиане: 10,8%.</a:t>
            </a:r>
          </a:p>
          <a:p>
            <a:pPr>
              <a:lnSpc>
                <a:spcPct val="120000"/>
              </a:lnSpc>
              <a:spcBef>
                <a:spcPts val="800"/>
              </a:spcBef>
              <a:spcAft>
                <a:spcPts val="600"/>
              </a:spcAft>
            </a:pPr>
            <a:endParaRPr lang="ru-RU" sz="1300" b="1" noProof="1">
              <a:latin typeface="HSE Sans" panose="02000000000000000000" pitchFamily="50" charset="0"/>
            </a:endParaRPr>
          </a:p>
          <a:p>
            <a:pPr>
              <a:lnSpc>
                <a:spcPct val="120000"/>
              </a:lnSpc>
              <a:spcBef>
                <a:spcPts val="800"/>
              </a:spcBef>
              <a:spcAft>
                <a:spcPts val="800"/>
              </a:spcAft>
            </a:pPr>
            <a:endParaRPr lang="en-US" sz="1300" noProof="1">
              <a:latin typeface="HSE Sans" panose="02000000000000000000" pitchFamily="50" charset="0"/>
            </a:endParaRPr>
          </a:p>
        </p:txBody>
      </p:sp>
      <p:sp>
        <p:nvSpPr>
          <p:cNvPr id="7" name="TextBox 6">
            <a:extLst>
              <a:ext uri="{FF2B5EF4-FFF2-40B4-BE49-F238E27FC236}">
                <a16:creationId xmlns:a16="http://schemas.microsoft.com/office/drawing/2014/main" id="{9475D7C3-E2DF-132B-BE99-D9B55DCD21B2}"/>
              </a:ext>
            </a:extLst>
          </p:cNvPr>
          <p:cNvSpPr txBox="1"/>
          <p:nvPr/>
        </p:nvSpPr>
        <p:spPr>
          <a:xfrm>
            <a:off x="8861911" y="5712291"/>
            <a:ext cx="2733459" cy="798680"/>
          </a:xfrm>
          <a:prstGeom prst="rect">
            <a:avLst/>
          </a:prstGeom>
          <a:noFill/>
        </p:spPr>
        <p:txBody>
          <a:bodyPr wrap="square">
            <a:spAutoFit/>
          </a:bodyPr>
          <a:lstStyle/>
          <a:p>
            <a:pPr>
              <a:lnSpc>
                <a:spcPct val="120000"/>
              </a:lnSpc>
              <a:spcBef>
                <a:spcPts val="800"/>
              </a:spcBef>
              <a:spcAft>
                <a:spcPts val="600"/>
              </a:spcAft>
            </a:pPr>
            <a:r>
              <a:rPr lang="ru-RU" sz="1300" b="1" noProof="1">
                <a:latin typeface="HSE Sans" panose="02000000000000000000" pitchFamily="50" charset="0"/>
              </a:rPr>
              <a:t>Предсказанные вероятности полной модели</a:t>
            </a:r>
            <a:r>
              <a:rPr lang="ru-RU" sz="1300" noProof="1">
                <a:latin typeface="HSE Sans" panose="02000000000000000000" pitchFamily="50" charset="0"/>
              </a:rPr>
              <a:t>, усреднение по 20 импутациям, 95% ДИ</a:t>
            </a:r>
          </a:p>
        </p:txBody>
      </p:sp>
    </p:spTree>
    <p:extLst>
      <p:ext uri="{BB962C8B-B14F-4D97-AF65-F5344CB8AC3E}">
        <p14:creationId xmlns:p14="http://schemas.microsoft.com/office/powerpoint/2010/main" val="3030502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7" y="1301871"/>
            <a:ext cx="10182622" cy="945214"/>
          </a:xfrm>
        </p:spPr>
        <p:txBody>
          <a:bodyPr>
            <a:normAutofit/>
          </a:bodyPr>
          <a:lstStyle/>
          <a:p>
            <a:r>
              <a:rPr lang="ru-RU" sz="2600" dirty="0"/>
              <a:t>Робастность: вывод устойчив к самочувствию, кодированию целевой и составу выборки</a:t>
            </a: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РОБАСТНОСТЬ</a:t>
            </a:r>
          </a:p>
        </p:txBody>
      </p:sp>
      <p:pic>
        <p:nvPicPr>
          <p:cNvPr id="9" name="Рисунок 8" descr="Изображение выглядит как текст, снимок экрана, Шрифт, число&#10;&#10;Контент, сгенерированный ИИ, может содержать ошибки.">
            <a:extLst>
              <a:ext uri="{FF2B5EF4-FFF2-40B4-BE49-F238E27FC236}">
                <a16:creationId xmlns:a16="http://schemas.microsoft.com/office/drawing/2014/main" id="{C53950D8-4C4D-A971-D98D-83D077342A82}"/>
              </a:ext>
            </a:extLst>
          </p:cNvPr>
          <p:cNvPicPr>
            <a:picLocks noChangeAspect="1"/>
          </p:cNvPicPr>
          <p:nvPr/>
        </p:nvPicPr>
        <p:blipFill>
          <a:blip r:embed="rId2"/>
          <a:stretch>
            <a:fillRect/>
          </a:stretch>
        </p:blipFill>
        <p:spPr>
          <a:xfrm>
            <a:off x="137658" y="2194894"/>
            <a:ext cx="8595377" cy="4091948"/>
          </a:xfrm>
          <a:prstGeom prst="rect">
            <a:avLst/>
          </a:prstGeom>
        </p:spPr>
      </p:pic>
      <p:sp>
        <p:nvSpPr>
          <p:cNvPr id="10" name="side-body">
            <a:extLst>
              <a:ext uri="{FF2B5EF4-FFF2-40B4-BE49-F238E27FC236}">
                <a16:creationId xmlns:a16="http://schemas.microsoft.com/office/drawing/2014/main" id="{29E707F3-35C2-DCD2-5839-EE7F21F7C2BF}"/>
              </a:ext>
            </a:extLst>
          </p:cNvPr>
          <p:cNvSpPr txBox="1"/>
          <p:nvPr/>
        </p:nvSpPr>
        <p:spPr>
          <a:xfrm>
            <a:off x="8362619" y="2449667"/>
            <a:ext cx="3427303" cy="3822973"/>
          </a:xfrm>
          <a:prstGeom prst="rect">
            <a:avLst/>
          </a:prstGeom>
          <a:noFill/>
          <a:ln>
            <a:noFill/>
          </a:ln>
        </p:spPr>
        <p:txBody>
          <a:bodyPr wrap="square" lIns="0" tIns="0" rIns="0" bIns="0" rtlCol="0"/>
          <a:lstStyle/>
          <a:p>
            <a:pPr>
              <a:lnSpc>
                <a:spcPct val="120000"/>
              </a:lnSpc>
              <a:spcAft>
                <a:spcPts val="800"/>
              </a:spcAft>
            </a:pPr>
            <a:r>
              <a:rPr lang="en-US" sz="1300" noProof="1">
                <a:latin typeface="HSE Sans" panose="02000000000000000000" pitchFamily="50" charset="0"/>
                <a:ea typeface="MiSans"/>
              </a:rPr>
              <a:t>Добавление </a:t>
            </a:r>
            <a:r>
              <a:rPr lang="en-US" sz="1300" b="1" noProof="1">
                <a:latin typeface="HSE Sans" panose="02000000000000000000" pitchFamily="50" charset="0"/>
                <a:ea typeface="MiSans"/>
              </a:rPr>
              <a:t>PHQ-8</a:t>
            </a:r>
            <a:r>
              <a:rPr lang="en-US" sz="1300" noProof="1">
                <a:latin typeface="HSE Sans" panose="02000000000000000000" pitchFamily="50" charset="0"/>
                <a:ea typeface="MiSans"/>
              </a:rPr>
              <a:t> в модель </a:t>
            </a:r>
            <a:r>
              <a:rPr lang="en-US" sz="1300" b="1" noProof="1">
                <a:latin typeface="HSE Sans" panose="02000000000000000000" pitchFamily="50" charset="0"/>
                <a:ea typeface="MiSans"/>
              </a:rPr>
              <a:t>ослабляет эффекты среды и руководства всего на 2–16%</a:t>
            </a:r>
            <a:r>
              <a:rPr lang="en-US" sz="1300" noProof="1">
                <a:latin typeface="HSE Sans" panose="02000000000000000000" pitchFamily="50" charset="0"/>
                <a:ea typeface="MiSans"/>
              </a:rPr>
              <a:t>, все связи остаются значимыми (p ≤ 5·10⁻⁴): среда не сводится к самочувствию аспиранта.</a:t>
            </a:r>
            <a:endParaRPr lang="en-US" sz="1300" noProof="1">
              <a:latin typeface="HSE Sans" panose="02000000000000000000" pitchFamily="50" charset="0"/>
            </a:endParaRPr>
          </a:p>
          <a:p>
            <a:pPr>
              <a:lnSpc>
                <a:spcPct val="120000"/>
              </a:lnSpc>
              <a:spcBef>
                <a:spcPts val="800"/>
              </a:spcBef>
              <a:spcAft>
                <a:spcPts val="800"/>
              </a:spcAft>
            </a:pPr>
            <a:r>
              <a:rPr lang="ru-RU" sz="1300" noProof="1">
                <a:latin typeface="HSE Sans" panose="02000000000000000000" pitchFamily="50" charset="0"/>
                <a:ea typeface="MiSans"/>
              </a:rPr>
              <a:t>Порядковая модель на исходной 4-балльной шкале целевой и полная выборка (n = 4631) </a:t>
            </a:r>
            <a:r>
              <a:rPr lang="ru-RU" sz="1300" b="1" noProof="1">
                <a:latin typeface="HSE Sans" panose="02000000000000000000" pitchFamily="50" charset="0"/>
                <a:ea typeface="MiSans"/>
              </a:rPr>
              <a:t>воспроизводят тот же рейтинг</a:t>
            </a:r>
            <a:r>
              <a:rPr lang="ru-RU" sz="1300" noProof="1">
                <a:latin typeface="HSE Sans" panose="02000000000000000000" pitchFamily="50" charset="0"/>
                <a:ea typeface="MiSans"/>
              </a:rPr>
              <a:t> </a:t>
            </a:r>
            <a:r>
              <a:rPr lang="ru-RU" sz="1300" b="1" noProof="1">
                <a:latin typeface="HSE Sans" panose="02000000000000000000" pitchFamily="50" charset="0"/>
                <a:ea typeface="MiSans"/>
              </a:rPr>
              <a:t>блоков</a:t>
            </a:r>
            <a:r>
              <a:rPr lang="ru-RU" sz="1300" noProof="1">
                <a:latin typeface="HSE Sans" panose="02000000000000000000" pitchFamily="50" charset="0"/>
                <a:ea typeface="MiSans"/>
              </a:rPr>
              <a:t> — вывод не зависит от дихотомизации и состава выборки.</a:t>
            </a:r>
          </a:p>
          <a:p>
            <a:pPr>
              <a:lnSpc>
                <a:spcPct val="120000"/>
              </a:lnSpc>
              <a:spcBef>
                <a:spcPts val="800"/>
              </a:spcBef>
              <a:spcAft>
                <a:spcPts val="800"/>
              </a:spcAft>
            </a:pPr>
            <a:r>
              <a:rPr lang="en-US" sz="1300" b="1" noProof="1">
                <a:latin typeface="HSE Sans" panose="02000000000000000000" pitchFamily="50" charset="0"/>
                <a:ea typeface="MiSans"/>
              </a:rPr>
              <a:t>Доля межвузовской дисперсии ICC = 0,031</a:t>
            </a:r>
            <a:r>
              <a:rPr lang="en-US" sz="1300" noProof="1">
                <a:latin typeface="HSE Sans" panose="02000000000000000000" pitchFamily="50" charset="0"/>
                <a:ea typeface="MiSans"/>
              </a:rPr>
              <a:t>: результат не артефакт отдельных вузов.</a:t>
            </a:r>
            <a:endParaRPr lang="en-US" sz="1300" noProof="1">
              <a:latin typeface="HSE Sans" panose="02000000000000000000" pitchFamily="50" charset="0"/>
            </a:endParaRPr>
          </a:p>
        </p:txBody>
      </p:sp>
      <p:sp>
        <p:nvSpPr>
          <p:cNvPr id="11" name="footer-left">
            <a:extLst>
              <a:ext uri="{FF2B5EF4-FFF2-40B4-BE49-F238E27FC236}">
                <a16:creationId xmlns:a16="http://schemas.microsoft.com/office/drawing/2014/main" id="{583B0277-B4D6-BD8E-FCEF-D1C94770BBA9}"/>
              </a:ext>
            </a:extLst>
          </p:cNvPr>
          <p:cNvSpPr txBox="1"/>
          <p:nvPr/>
        </p:nvSpPr>
        <p:spPr>
          <a:xfrm>
            <a:off x="7895690" y="6301044"/>
            <a:ext cx="3894232" cy="209688"/>
          </a:xfrm>
          <a:prstGeom prst="rect">
            <a:avLst/>
          </a:prstGeom>
          <a:noFill/>
          <a:ln>
            <a:noFill/>
          </a:ln>
        </p:spPr>
        <p:txBody>
          <a:bodyPr wrap="none" lIns="0" tIns="0" rIns="0" bIns="0" rtlCol="0"/>
          <a:lstStyle/>
          <a:p>
            <a:pPr>
              <a:lnSpc>
                <a:spcPct val="120000"/>
              </a:lnSpc>
            </a:pPr>
            <a:r>
              <a:rPr lang="en-US" sz="1300" b="1" noProof="1">
                <a:latin typeface="HSE Sans" panose="02000000000000000000" pitchFamily="50" charset="0"/>
                <a:ea typeface="MiSans"/>
              </a:rPr>
              <a:t>Полная модель + PHQ-8 (сумма), </a:t>
            </a:r>
            <a:r>
              <a:rPr lang="en-US" sz="1300" noProof="1">
                <a:latin typeface="HSE Sans" panose="02000000000000000000" pitchFamily="50" charset="0"/>
                <a:ea typeface="MiSans"/>
              </a:rPr>
              <a:t>OR за балл шкалы</a:t>
            </a:r>
            <a:endParaRPr lang="en-US" sz="1300" noProof="1">
              <a:latin typeface="HSE Sans" panose="02000000000000000000" pitchFamily="50" charset="0"/>
            </a:endParaRPr>
          </a:p>
        </p:txBody>
      </p:sp>
    </p:spTree>
    <p:extLst>
      <p:ext uri="{BB962C8B-B14F-4D97-AF65-F5344CB8AC3E}">
        <p14:creationId xmlns:p14="http://schemas.microsoft.com/office/powerpoint/2010/main" val="2208210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7" y="1369967"/>
            <a:ext cx="11223481" cy="828482"/>
          </a:xfrm>
        </p:spPr>
        <p:txBody>
          <a:bodyPr>
            <a:normAutofit/>
          </a:bodyPr>
          <a:lstStyle/>
          <a:p>
            <a:r>
              <a:rPr lang="ru-RU" sz="2600" dirty="0"/>
              <a:t>Проверка гипотез: две подтвердились, две — нет</a:t>
            </a: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ГИПОТЕЗЫ</a:t>
            </a:r>
          </a:p>
        </p:txBody>
      </p:sp>
      <p:sp>
        <p:nvSpPr>
          <p:cNvPr id="7" name="Текст 3">
            <a:extLst>
              <a:ext uri="{FF2B5EF4-FFF2-40B4-BE49-F238E27FC236}">
                <a16:creationId xmlns:a16="http://schemas.microsoft.com/office/drawing/2014/main" id="{04E0D635-76F2-5B9E-18F2-20EE4D5F4474}"/>
              </a:ext>
            </a:extLst>
          </p:cNvPr>
          <p:cNvSpPr>
            <a:spLocks noGrp="1"/>
          </p:cNvSpPr>
          <p:nvPr>
            <p:ph type="body" sz="quarter" idx="12"/>
          </p:nvPr>
        </p:nvSpPr>
        <p:spPr>
          <a:xfrm>
            <a:off x="585897" y="2312415"/>
            <a:ext cx="5245561" cy="4030013"/>
          </a:xfrm>
        </p:spPr>
        <p:txBody>
          <a:bodyPr>
            <a:noAutofit/>
          </a:bodyPr>
          <a:lstStyle/>
          <a:p>
            <a:pPr>
              <a:lnSpc>
                <a:spcPct val="120000"/>
              </a:lnSpc>
              <a:spcBef>
                <a:spcPts val="0"/>
              </a:spcBef>
              <a:spcAft>
                <a:spcPts val="1200"/>
              </a:spcAft>
            </a:pPr>
            <a:r>
              <a:rPr lang="ru-RU" sz="1400" b="1" dirty="0"/>
              <a:t>H1. Среда и руководство весят больше, чем обстоятельства (при контроле демографии и мотивации)</a:t>
            </a:r>
          </a:p>
          <a:p>
            <a:pPr>
              <a:lnSpc>
                <a:spcPct val="120000"/>
              </a:lnSpc>
              <a:spcBef>
                <a:spcPts val="0"/>
              </a:spcBef>
              <a:spcAft>
                <a:spcPts val="1200"/>
              </a:spcAft>
            </a:pPr>
            <a:r>
              <a:rPr lang="ru-RU" sz="1400" b="1" dirty="0"/>
              <a:t>✔ Подтвердилась. </a:t>
            </a:r>
            <a:r>
              <a:rPr lang="ru-RU" sz="1400" dirty="0"/>
              <a:t>Уникальный вклад G1 = 63% объяснённой вариации против 6% у G2; LMG-рейтинг: среда 50% + руководство 24% против 10% у обстоятельств</a:t>
            </a:r>
          </a:p>
          <a:p>
            <a:pPr>
              <a:lnSpc>
                <a:spcPct val="120000"/>
              </a:lnSpc>
              <a:spcBef>
                <a:spcPts val="0"/>
              </a:spcBef>
              <a:spcAft>
                <a:spcPts val="1200"/>
              </a:spcAft>
            </a:pPr>
            <a:endParaRPr lang="ru-RU" sz="1400" dirty="0"/>
          </a:p>
          <a:p>
            <a:pPr>
              <a:lnSpc>
                <a:spcPct val="120000"/>
              </a:lnSpc>
              <a:spcBef>
                <a:spcPts val="0"/>
              </a:spcBef>
              <a:spcAft>
                <a:spcPts val="1200"/>
              </a:spcAft>
            </a:pPr>
            <a:r>
              <a:rPr lang="ru-RU" sz="1400" b="1" dirty="0"/>
              <a:t>H2. Обстоятельства не сводятся к нулю: у работающих связь работы с диссертацией снижает риск</a:t>
            </a:r>
          </a:p>
          <a:p>
            <a:pPr>
              <a:lnSpc>
                <a:spcPct val="120000"/>
              </a:lnSpc>
              <a:spcBef>
                <a:spcPts val="0"/>
              </a:spcBef>
              <a:spcAft>
                <a:spcPts val="1200"/>
              </a:spcAft>
            </a:pPr>
            <a:r>
              <a:rPr lang="ru-RU" sz="1400" b="1" dirty="0"/>
              <a:t>✔ Подтвердилась частично. </a:t>
            </a:r>
            <a:r>
              <a:rPr lang="ru-RU" sz="1400" dirty="0"/>
              <a:t>Уникальная доля обстоятельств — лишь 6%, работа вне вуза сама по себе риска не добавляет (22,1% ≈ среднему 21,7%); но связь работы с темой защищает: OR = 0,87 за балл у работающих вне вуза (p ≈ 2·10⁻¹⁰) и OR = 0,88 у работающих в вузе (p ≈ 1·10⁻⁵)</a:t>
            </a:r>
          </a:p>
          <a:p>
            <a:pPr>
              <a:lnSpc>
                <a:spcPct val="120000"/>
              </a:lnSpc>
              <a:spcBef>
                <a:spcPts val="0"/>
              </a:spcBef>
              <a:spcAft>
                <a:spcPts val="1200"/>
              </a:spcAft>
            </a:pPr>
            <a:endParaRPr lang="ru-RU" sz="1400" dirty="0"/>
          </a:p>
        </p:txBody>
      </p:sp>
      <p:sp>
        <p:nvSpPr>
          <p:cNvPr id="14" name="Текст 3">
            <a:extLst>
              <a:ext uri="{FF2B5EF4-FFF2-40B4-BE49-F238E27FC236}">
                <a16:creationId xmlns:a16="http://schemas.microsoft.com/office/drawing/2014/main" id="{BC78DF6B-E651-EB08-0692-A3AE929AA5B9}"/>
              </a:ext>
            </a:extLst>
          </p:cNvPr>
          <p:cNvSpPr txBox="1">
            <a:spLocks/>
          </p:cNvSpPr>
          <p:nvPr/>
        </p:nvSpPr>
        <p:spPr>
          <a:xfrm>
            <a:off x="6360542" y="2312415"/>
            <a:ext cx="5245561" cy="4030013"/>
          </a:xfrm>
          <a:prstGeom prst="rect">
            <a:avLst/>
          </a:prstGeom>
        </p:spPr>
        <p:txBody>
          <a:bodyPr lIns="0" tIns="0" r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1200"/>
              </a:spcAft>
            </a:pPr>
            <a:r>
              <a:rPr lang="ru-RU" sz="1400" b="1" dirty="0"/>
              <a:t>H3. Депрессивная симптоматика (PHQ-8) перехватывает часть эффекта среды</a:t>
            </a:r>
          </a:p>
          <a:p>
            <a:pPr>
              <a:lnSpc>
                <a:spcPct val="120000"/>
              </a:lnSpc>
              <a:spcBef>
                <a:spcPts val="0"/>
              </a:spcBef>
              <a:spcAft>
                <a:spcPts val="1200"/>
              </a:spcAft>
            </a:pPr>
            <a:r>
              <a:rPr lang="ru-RU" sz="1400" b="1" dirty="0"/>
              <a:t>✖ Не подтвердилась в сильной форме. </a:t>
            </a:r>
            <a:r>
              <a:rPr lang="ru-RU" sz="1400" dirty="0"/>
              <a:t>Индивидуальные эффекты среды ослабевают лишь на 2–16% и остаются значимыми (p ≤ 5·10⁻⁴). При этом на уровне блока PHQ-8 забирает 23% уникальной доли среды — часть связи действительно общая, фиксируем это явно.</a:t>
            </a:r>
          </a:p>
          <a:p>
            <a:pPr>
              <a:lnSpc>
                <a:spcPct val="120000"/>
              </a:lnSpc>
              <a:spcBef>
                <a:spcPts val="0"/>
              </a:spcBef>
              <a:spcAft>
                <a:spcPts val="1200"/>
              </a:spcAft>
            </a:pPr>
            <a:endParaRPr lang="ru-RU" sz="1400" b="1" dirty="0"/>
          </a:p>
          <a:p>
            <a:pPr>
              <a:lnSpc>
                <a:spcPct val="120000"/>
              </a:lnSpc>
              <a:spcBef>
                <a:spcPts val="0"/>
              </a:spcBef>
              <a:spcAft>
                <a:spcPts val="1200"/>
              </a:spcAft>
            </a:pPr>
            <a:r>
              <a:rPr lang="ru-RU" sz="1400" b="1" dirty="0"/>
              <a:t>H4. Эффект руководителя сильнее у поступавших «в науку»</a:t>
            </a:r>
          </a:p>
          <a:p>
            <a:pPr>
              <a:lnSpc>
                <a:spcPct val="120000"/>
              </a:lnSpc>
              <a:spcBef>
                <a:spcPts val="0"/>
              </a:spcBef>
              <a:spcAft>
                <a:spcPts val="1200"/>
              </a:spcAft>
            </a:pPr>
            <a:r>
              <a:rPr lang="ru-RU" sz="1400" b="1" dirty="0"/>
              <a:t>✖ Не подтвердилась. </a:t>
            </a:r>
            <a:r>
              <a:rPr lang="ru-RU" sz="1400" dirty="0"/>
              <a:t>Взаимодействие «удовлетворённость × академическая цель» незначимо (p = 0,33); при низкой удовлетворённости риск одинаково высок у обеих групп (27,1% и 27,6%)</a:t>
            </a:r>
          </a:p>
          <a:p>
            <a:pPr>
              <a:lnSpc>
                <a:spcPct val="120000"/>
              </a:lnSpc>
              <a:spcBef>
                <a:spcPts val="0"/>
              </a:spcBef>
              <a:spcAft>
                <a:spcPts val="1200"/>
              </a:spcAft>
            </a:pPr>
            <a:endParaRPr lang="ru-RU" sz="1400" dirty="0"/>
          </a:p>
          <a:p>
            <a:pPr>
              <a:lnSpc>
                <a:spcPct val="120000"/>
              </a:lnSpc>
              <a:spcBef>
                <a:spcPts val="0"/>
              </a:spcBef>
              <a:spcAft>
                <a:spcPts val="1200"/>
              </a:spcAft>
            </a:pPr>
            <a:endParaRPr lang="ru-RU" sz="1400" dirty="0"/>
          </a:p>
        </p:txBody>
      </p:sp>
    </p:spTree>
    <p:extLst>
      <p:ext uri="{BB962C8B-B14F-4D97-AF65-F5344CB8AC3E}">
        <p14:creationId xmlns:p14="http://schemas.microsoft.com/office/powerpoint/2010/main" val="110926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85898" y="1447790"/>
            <a:ext cx="11020204" cy="780961"/>
          </a:xfrm>
        </p:spPr>
        <p:txBody>
          <a:bodyPr>
            <a:noAutofit/>
          </a:bodyPr>
          <a:lstStyle/>
          <a:p>
            <a:r>
              <a:rPr lang="ru-RU" sz="2600" dirty="0"/>
              <a:t>Вывод: намерение уйти связано прежде всего со средой — это окно для вмешательства</a:t>
            </a:r>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43690" y="641332"/>
            <a:ext cx="1380436" cy="222884"/>
          </a:xfrm>
        </p:spPr>
        <p:txBody>
          <a:bodyPr/>
          <a:lstStyle/>
          <a:p>
            <a:r>
              <a:rPr lang="ru-RU" sz="1000" dirty="0">
                <a:latin typeface="HSE Sans" panose="02000000000000000000" pitchFamily="50" charset="0"/>
              </a:rPr>
              <a:t>ХАКАТОН </a:t>
            </a:r>
            <a:r>
              <a:rPr lang="ru-RU" dirty="0">
                <a:latin typeface="HSE Sans" panose="02000000000000000000" pitchFamily="50" charset="0"/>
              </a:rPr>
              <a:t>ИВО </a:t>
            </a:r>
            <a:r>
              <a:rPr lang="ru-RU" sz="1000" dirty="0">
                <a:latin typeface="HSE Sans" panose="02000000000000000000" pitchFamily="50" charset="0"/>
              </a:rPr>
              <a:t>· 2026</a:t>
            </a:r>
            <a:endParaRPr lang="ru-RU" dirty="0"/>
          </a:p>
        </p:txBody>
      </p:sp>
      <p:sp>
        <p:nvSpPr>
          <p:cNvPr id="8" name="Текст 4">
            <a:extLst>
              <a:ext uri="{FF2B5EF4-FFF2-40B4-BE49-F238E27FC236}">
                <a16:creationId xmlns:a16="http://schemas.microsoft.com/office/drawing/2014/main" id="{A247BE6E-9298-A80D-DCEF-491B5C6F2191}"/>
              </a:ext>
            </a:extLst>
          </p:cNvPr>
          <p:cNvSpPr txBox="1">
            <a:spLocks/>
          </p:cNvSpPr>
          <p:nvPr/>
        </p:nvSpPr>
        <p:spPr>
          <a:xfrm>
            <a:off x="2901153" y="637396"/>
            <a:ext cx="1380436" cy="222884"/>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latin typeface="HSE Sans" panose="02000000000000000000" pitchFamily="50" charset="0"/>
              </a:rPr>
              <a:t>ОТВЕТ</a:t>
            </a:r>
          </a:p>
        </p:txBody>
      </p:sp>
      <p:sp>
        <p:nvSpPr>
          <p:cNvPr id="9" name="answer-text">
            <a:extLst>
              <a:ext uri="{FF2B5EF4-FFF2-40B4-BE49-F238E27FC236}">
                <a16:creationId xmlns:a16="http://schemas.microsoft.com/office/drawing/2014/main" id="{34717F77-7447-F329-6906-B2ABB9C3EB02}"/>
              </a:ext>
            </a:extLst>
          </p:cNvPr>
          <p:cNvSpPr txBox="1"/>
          <p:nvPr/>
        </p:nvSpPr>
        <p:spPr>
          <a:xfrm>
            <a:off x="585898" y="2720928"/>
            <a:ext cx="9956800" cy="1646791"/>
          </a:xfrm>
          <a:prstGeom prst="rect">
            <a:avLst/>
          </a:prstGeom>
          <a:noFill/>
          <a:ln>
            <a:noFill/>
          </a:ln>
        </p:spPr>
        <p:txBody>
          <a:bodyPr wrap="square" lIns="0" tIns="0" rIns="0" bIns="0" rtlCol="0"/>
          <a:lstStyle/>
          <a:p>
            <a:pPr>
              <a:lnSpc>
                <a:spcPct val="120000"/>
              </a:lnSpc>
              <a:spcAft>
                <a:spcPts val="1200"/>
              </a:spcAft>
            </a:pPr>
            <a:r>
              <a:rPr lang="en-US" sz="1500" noProof="1">
                <a:latin typeface="HSE Sans" panose="02000000000000000000" pitchFamily="50" charset="0"/>
                <a:ea typeface="MiSans"/>
              </a:rPr>
              <a:t>На вопрос «среда или жизнь» данные отвечают однозначно: уникальный вклад образовательной среды и научного руководства — </a:t>
            </a:r>
            <a:r>
              <a:rPr lang="en-US" sz="1500" b="1" noProof="1">
                <a:latin typeface="HSE Sans" panose="02000000000000000000" pitchFamily="50" charset="0"/>
                <a:ea typeface="MiSans"/>
              </a:rPr>
              <a:t>63%</a:t>
            </a:r>
            <a:r>
              <a:rPr lang="en-US" sz="1500" noProof="1">
                <a:latin typeface="HSE Sans" panose="02000000000000000000" pitchFamily="50" charset="0"/>
                <a:ea typeface="MiSans"/>
              </a:rPr>
              <a:t> объяснённой вариации против </a:t>
            </a:r>
            <a:r>
              <a:rPr lang="en-US" sz="1500" b="1" noProof="1">
                <a:latin typeface="HSE Sans" panose="02000000000000000000" pitchFamily="50" charset="0"/>
                <a:ea typeface="MiSans"/>
              </a:rPr>
              <a:t>6%</a:t>
            </a:r>
            <a:r>
              <a:rPr lang="en-US" sz="1500" noProof="1">
                <a:latin typeface="HSE Sans" panose="02000000000000000000" pitchFamily="50" charset="0"/>
                <a:ea typeface="MiSans"/>
              </a:rPr>
              <a:t> у жизненных обстоятельств; </a:t>
            </a:r>
            <a:endParaRPr lang="ru-RU" sz="1500" noProof="1">
              <a:latin typeface="HSE Sans" panose="02000000000000000000" pitchFamily="50" charset="0"/>
              <a:ea typeface="MiSans"/>
            </a:endParaRPr>
          </a:p>
          <a:p>
            <a:pPr>
              <a:lnSpc>
                <a:spcPct val="120000"/>
              </a:lnSpc>
            </a:pPr>
            <a:r>
              <a:rPr lang="ru-RU" sz="1500" b="1" noProof="1">
                <a:latin typeface="HSE Sans" panose="02000000000000000000" pitchFamily="50" charset="0"/>
                <a:ea typeface="MiSans"/>
              </a:rPr>
              <a:t>Н</a:t>
            </a:r>
            <a:r>
              <a:rPr lang="en-US" sz="1500" b="1" noProof="1">
                <a:latin typeface="HSE Sans" panose="02000000000000000000" pitchFamily="50" charset="0"/>
                <a:ea typeface="MiSans"/>
              </a:rPr>
              <a:t>еразделимая часть — лишь 11%. </a:t>
            </a:r>
            <a:r>
              <a:rPr lang="ru-RU" sz="1500" noProof="1">
                <a:latin typeface="HSE Sans" panose="02000000000000000000" pitchFamily="50" charset="0"/>
                <a:ea typeface="MiSans"/>
              </a:rPr>
              <a:t>То есть блоки не только различаются по весу — их можно отделить друг от друга: неразделимая доля составляет лишь около десятой объяснённой вариации. </a:t>
            </a:r>
          </a:p>
          <a:p>
            <a:pPr>
              <a:lnSpc>
                <a:spcPct val="120000"/>
              </a:lnSpc>
            </a:pPr>
            <a:r>
              <a:rPr lang="en-US" sz="1500" noProof="1">
                <a:latin typeface="HSE Sans" panose="02000000000000000000" pitchFamily="50" charset="0"/>
                <a:ea typeface="MiSans"/>
              </a:rPr>
              <a:t>Намерение уйти — не отсев: это ранняя, обратимая стадия ухода, и именно она даёт вузу окно для вмешательства.</a:t>
            </a:r>
            <a:endParaRPr lang="en-US" sz="1500" noProof="1">
              <a:latin typeface="HSE Sans" panose="02000000000000000000" pitchFamily="50" charset="0"/>
            </a:endParaRPr>
          </a:p>
        </p:txBody>
      </p:sp>
      <p:sp>
        <p:nvSpPr>
          <p:cNvPr id="12" name="Текст 3">
            <a:extLst>
              <a:ext uri="{FF2B5EF4-FFF2-40B4-BE49-F238E27FC236}">
                <a16:creationId xmlns:a16="http://schemas.microsoft.com/office/drawing/2014/main" id="{D5BDAD71-2A9C-4E97-CAAD-145F26A7C680}"/>
              </a:ext>
            </a:extLst>
          </p:cNvPr>
          <p:cNvSpPr>
            <a:spLocks noGrp="1"/>
          </p:cNvSpPr>
          <p:nvPr>
            <p:ph type="body" sz="quarter" idx="12"/>
          </p:nvPr>
        </p:nvSpPr>
        <p:spPr>
          <a:xfrm>
            <a:off x="585898" y="4625508"/>
            <a:ext cx="5245561" cy="1347280"/>
          </a:xfrm>
        </p:spPr>
        <p:txBody>
          <a:bodyPr>
            <a:noAutofit/>
          </a:bodyPr>
          <a:lstStyle/>
          <a:p>
            <a:pPr>
              <a:lnSpc>
                <a:spcPct val="120000"/>
              </a:lnSpc>
              <a:spcBef>
                <a:spcPts val="0"/>
              </a:spcBef>
              <a:spcAft>
                <a:spcPts val="1200"/>
              </a:spcAft>
            </a:pPr>
            <a:r>
              <a:rPr lang="ru-RU" sz="1500" b="1" dirty="0"/>
              <a:t>Границы выводов</a:t>
            </a:r>
            <a:endParaRPr lang="en-US" sz="1500" dirty="0"/>
          </a:p>
          <a:p>
            <a:pPr>
              <a:lnSpc>
                <a:spcPct val="120000"/>
              </a:lnSpc>
              <a:spcBef>
                <a:spcPts val="0"/>
              </a:spcBef>
              <a:spcAft>
                <a:spcPts val="1200"/>
              </a:spcAft>
            </a:pPr>
            <a:r>
              <a:rPr lang="ru-RU" sz="1500" dirty="0"/>
              <a:t>Кросс-секция 2021 г., самоселекция без весов — это ассоциации внутри массива, а не причинность и не доли в популяции.</a:t>
            </a:r>
          </a:p>
        </p:txBody>
      </p:sp>
      <p:sp>
        <p:nvSpPr>
          <p:cNvPr id="13" name="Текст 3">
            <a:extLst>
              <a:ext uri="{FF2B5EF4-FFF2-40B4-BE49-F238E27FC236}">
                <a16:creationId xmlns:a16="http://schemas.microsoft.com/office/drawing/2014/main" id="{F1AED209-519C-10D3-9CE0-A9381887CDBA}"/>
              </a:ext>
            </a:extLst>
          </p:cNvPr>
          <p:cNvSpPr txBox="1">
            <a:spLocks/>
          </p:cNvSpPr>
          <p:nvPr/>
        </p:nvSpPr>
        <p:spPr>
          <a:xfrm>
            <a:off x="6360543" y="4625507"/>
            <a:ext cx="5245561" cy="1347281"/>
          </a:xfrm>
          <a:prstGeom prst="rect">
            <a:avLst/>
          </a:prstGeom>
        </p:spPr>
        <p:txBody>
          <a:bodyPr lIns="0" tIns="0" r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kern="1200">
                <a:solidFill>
                  <a:srgbClr val="0E2D69"/>
                </a:solidFill>
                <a:latin typeface="HSE Sans" panose="02000000000000000000" pitchFamily="2" charset="0"/>
                <a:ea typeface="+mn-ea"/>
                <a:cs typeface="+mn-cs"/>
              </a:defRPr>
            </a:lvl1pPr>
            <a:lvl2pPr marL="4572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2pPr>
            <a:lvl3pPr marL="9144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3pPr>
            <a:lvl4pPr marL="13716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4pPr>
            <a:lvl5pPr marL="1828800" indent="0" algn="l" defTabSz="914400" rtl="0" eaLnBrk="1" latinLnBrk="0" hangingPunct="1">
              <a:lnSpc>
                <a:spcPct val="100000"/>
              </a:lnSpc>
              <a:spcBef>
                <a:spcPts val="1000"/>
              </a:spcBef>
              <a:buFont typeface="Arial" panose="020B0604020202020204" pitchFamily="34" charset="0"/>
              <a:buNone/>
              <a:defRPr sz="1300" b="0" i="0" kern="1200">
                <a:solidFill>
                  <a:srgbClr val="0E2D69"/>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1200"/>
              </a:spcAft>
            </a:pPr>
            <a:r>
              <a:rPr lang="ru-RU" sz="1500" b="1" dirty="0"/>
              <a:t>Потенциал</a:t>
            </a:r>
          </a:p>
          <a:p>
            <a:pPr>
              <a:lnSpc>
                <a:spcPct val="120000"/>
              </a:lnSpc>
              <a:spcBef>
                <a:spcPts val="0"/>
              </a:spcBef>
              <a:spcAft>
                <a:spcPts val="1200"/>
              </a:spcAft>
            </a:pPr>
            <a:r>
              <a:rPr lang="ru-RU" sz="1500" dirty="0"/>
              <a:t>Проверить переход намерения в фактический отсев на лонгитюдных данных; повторить декомпозицию на новой волне мониторинга.</a:t>
            </a:r>
          </a:p>
        </p:txBody>
      </p:sp>
    </p:spTree>
    <p:extLst>
      <p:ext uri="{BB962C8B-B14F-4D97-AF65-F5344CB8AC3E}">
        <p14:creationId xmlns:p14="http://schemas.microsoft.com/office/powerpoint/2010/main" val="2737124992"/>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customXml/itemProps2.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34386AA-1848-4C75-B336-1053927CB0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2530</TotalTime>
  <Words>1308</Words>
  <Application>Microsoft Office PowerPoint</Application>
  <PresentationFormat>Широкоэкранный</PresentationFormat>
  <Paragraphs>109</Paragraphs>
  <Slides>10</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HSE Sans</vt:lpstr>
      <vt:lpstr>Calibri</vt:lpstr>
      <vt:lpstr>Arial</vt:lpstr>
      <vt:lpstr>Office Theme</vt:lpstr>
      <vt:lpstr>Что приводит аспиранта к мысли об отчислении – среда или обстоятельства?  </vt:lpstr>
      <vt:lpstr>Массив: 5007 аспирантов из 248 вузов &amp; Границы массива </vt:lpstr>
      <vt:lpstr>Каждый пятый хочет бросить аспирантуру — и эта мера валидна</vt:lpstr>
      <vt:lpstr>Блочная логит-регрессия, декомпозиция Tjur R² (инвариантная к порядку)</vt:lpstr>
      <vt:lpstr>Подгруппы риска: максимум — при проблемах среды и руководства </vt:lpstr>
      <vt:lpstr>Главный результат: среда и руководство объясняют в 10 раз больше, чем обстоятельства</vt:lpstr>
      <vt:lpstr>Профили риска: среда — 82,9%, обстоятельства — 18,2%</vt:lpstr>
      <vt:lpstr>Робастность: вывод устойчив к самочувствию, кодированию целевой и составу выборки</vt:lpstr>
      <vt:lpstr>Проверка гипотез: две подтвердились, две — нет</vt:lpstr>
      <vt:lpstr>Вывод: намерение уйти связано прежде всего со средой — это окно для вмешательства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Arseniy Dorofeev</cp:lastModifiedBy>
  <cp:revision>413</cp:revision>
  <cp:lastPrinted>2021-11-11T13:08:42Z</cp:lastPrinted>
  <dcterms:created xsi:type="dcterms:W3CDTF">2021-11-11T08:52:47Z</dcterms:created>
  <dcterms:modified xsi:type="dcterms:W3CDTF">2026-10-19T07:03:25Z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